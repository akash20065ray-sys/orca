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005840" cy="8425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20240" y="502920"/>
            <a:ext cx="8229600" cy="822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Helvetica"/>
              </a:defRPr>
            </a:pPr>
            <a:r>
              <a:t>Bansilal Ramnath Agarwal Charitable Trust's</a:t>
            </a:r>
          </a:p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VISHWAKARMA INSTITUTE OF TECHNOLOGY, PUNE</a:t>
            </a:r>
          </a:p>
          <a:p>
            <a:pPr>
              <a:defRPr sz="950">
                <a:solidFill>
                  <a:srgbClr val="475569"/>
                </a:solidFill>
                <a:latin typeface="Helvetica"/>
              </a:defRPr>
            </a:pPr>
            <a:r>
              <a:t>(An Autonomous Institute Affiliated to Savitribai Phule Pune University)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728655" cy="2011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spcAft>
                <a:spcPts val="400"/>
              </a:spcAft>
              <a:defRPr sz="1200" b="1">
                <a:solidFill>
                  <a:srgbClr val="0284C7"/>
                </a:solidFill>
                <a:latin typeface="Helvetica"/>
              </a:defRPr>
            </a:pPr>
            <a:r>
              <a:t>ENGINEERING DESIGN AND INNOVATION (EDI)</a:t>
            </a:r>
          </a:p>
          <a:p>
            <a:pPr>
              <a:spcAft>
                <a:spcPts val="800"/>
              </a:spcAft>
              <a:defRPr sz="1000" b="1">
                <a:solidFill>
                  <a:srgbClr val="F59E0B"/>
                </a:solidFill>
                <a:latin typeface="Helvetica"/>
              </a:defRPr>
            </a:pPr>
            <a:r>
              <a:t>MID-SEM REVIEW PRESENTATION (MSE - 50 MARKS)</a:t>
            </a:r>
          </a:p>
          <a:p>
            <a:pPr>
              <a:spcAft>
                <a:spcPts val="600"/>
              </a:spcAft>
              <a:defRPr sz="2300" b="1">
                <a:solidFill>
                  <a:srgbClr val="0F172A"/>
                </a:solidFill>
                <a:latin typeface="Helvetica"/>
              </a:defRPr>
            </a:pPr>
            <a:r>
              <a:t>PROJECT: ORCA (SIH26176)</a:t>
            </a:r>
          </a:p>
          <a:p>
            <a:pPr>
              <a:defRPr sz="1100">
                <a:solidFill>
                  <a:srgbClr val="1E293B"/>
                </a:solidFill>
                <a:latin typeface="Helvetica"/>
              </a:defRPr>
            </a:pPr>
            <a:r>
              <a:t>Marine EcOsystem Reasoning with Collaborative Agents: Grounded Multi-Agent Decision-Support for Coastal Navigation &amp; Fisheries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/>
          <a:lstStyle/>
          <a:p>
            <a:pPr algn="ctr">
              <a:spcAft>
                <a:spcPts val="800"/>
              </a:spcAft>
              <a:defRPr sz="1100" b="1">
                <a:solidFill>
                  <a:srgbClr val="0284C7"/>
                </a:solidFill>
                <a:latin typeface="Helvetica"/>
              </a:defRPr>
            </a:pPr>
            <a:r>
              <a:t>TEAM FORMATION &amp; PROJECT SUPERVISION (DIV: A | GROUP NO: 1)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60120" y="4343400"/>
          <a:ext cx="1026871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42"/>
                <a:gridCol w="2053742"/>
                <a:gridCol w="2053742"/>
                <a:gridCol w="2053742"/>
                <a:gridCol w="2053742"/>
              </a:tblGrid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Helvetica"/>
                        </a:defRPr>
                      </a:pPr>
                      <a:r>
                        <a:t>Akash Kumar</a:t>
                      </a:r>
                    </a:p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Helvetica"/>
                        </a:defRPr>
                      </a:pPr>
                      <a:r>
                        <a:t>GR: 12310101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Helvetica"/>
                        </a:defRPr>
                      </a:pPr>
                      <a:r>
                        <a:t>Sanskar Bhargude</a:t>
                      </a:r>
                    </a:p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Helvetica"/>
                        </a:defRPr>
                      </a:pPr>
                      <a:r>
                        <a:t>GR: 12310102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Helvetica"/>
                        </a:defRPr>
                      </a:pPr>
                      <a:r>
                        <a:t>Ghansham Agaldare</a:t>
                      </a:r>
                    </a:p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Helvetica"/>
                        </a:defRPr>
                      </a:pPr>
                      <a:r>
                        <a:t>GR: 12310103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Helvetica"/>
                        </a:defRPr>
                      </a:pPr>
                      <a:r>
                        <a:t>Hari Birare</a:t>
                      </a:r>
                    </a:p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Helvetica"/>
                        </a:defRPr>
                      </a:pPr>
                      <a:r>
                        <a:t>GR: 12310104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Helvetica"/>
                        </a:defRPr>
                      </a:pPr>
                      <a:r>
                        <a:t>Krishna Aher</a:t>
                      </a:r>
                    </a:p>
                    <a:p>
                      <a:pPr>
                        <a:defRPr sz="850">
                          <a:solidFill>
                            <a:srgbClr val="475569"/>
                          </a:solidFill>
                          <a:latin typeface="Helvetica"/>
                        </a:defRPr>
                      </a:pPr>
                      <a:r>
                        <a:t>GR: 12310105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Team Lead &amp;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Marine Data &amp; Telemetry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Scientific Engines &amp; Safety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PFZ Analytics &amp; Dual-Routing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Frontend PWA &amp; Voice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 of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AGENDA &amp; ASSESSMENT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Table of Contents &amp; Presentation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PRESENTATION SECTION 1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1. Problem Statement &amp; Ground Realities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3]
</a:t>
            </a:r>
            <a:r>
              <a:rPr sz="850">
                <a:solidFill>
                  <a:srgbClr val="1E293B"/>
                </a:solidFill>
                <a:latin typeface="Helvetica"/>
              </a:rPr>
              <a:t>3 Critical maritime challenges faced by 4M+ Indian fishermen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2. Literature Survey &amp; Research Gaps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4]
</a:t>
            </a:r>
            <a:r>
              <a:rPr sz="850">
                <a:solidFill>
                  <a:srgbClr val="1E293B"/>
                </a:solidFill>
                <a:latin typeface="Helvetica"/>
              </a:rPr>
              <a:t>Review of 6 peer-reviewed journals and unaddressed industry gaps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3. Proposed Solution &amp; Objectives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5]
</a:t>
            </a:r>
            <a:r>
              <a:rPr sz="850">
                <a:solidFill>
                  <a:srgbClr val="1E293B"/>
                </a:solidFill>
                <a:latin typeface="Helvetica"/>
              </a:rPr>
              <a:t>ORCA Marine Copilot, 3 core objectives, and foundational scope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4. Scientific Methodology &amp; Formulations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6]
</a:t>
            </a:r>
            <a:r>
              <a:rPr sz="850">
                <a:solidFill>
                  <a:srgbClr val="1E293B"/>
                </a:solidFill>
                <a:latin typeface="Helvetica"/>
              </a:rPr>
              <a:t>Freshness ledger, 0-100 Sea Safety formula, and dual routing math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5. System Architecture &amp; 8 Agents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7]
</a:t>
            </a:r>
            <a:r>
              <a:rPr sz="850">
                <a:solidFill>
                  <a:srgbClr val="1E293B"/>
                </a:solidFill>
                <a:latin typeface="Helvetica"/>
              </a:rPr>
              <a:t>4-Layer architectural stack with 8 collaborative specialized agents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6. Tools &amp; Technology Stack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8]
</a:t>
            </a:r>
            <a:r>
              <a:rPr sz="850">
                <a:solidFill>
                  <a:srgbClr val="1E293B"/>
                </a:solidFill>
                <a:latin typeface="Helvetica"/>
              </a:rPr>
              <a:t>Python 3.13, FastAPI, React 19, Leaflet GIS, PostGIS &amp; NOAA/ISRO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7. System Overview (4 Subsystems)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9]
</a:t>
            </a:r>
            <a:r>
              <a:rPr sz="850">
                <a:solidFill>
                  <a:srgbClr val="1E293B"/>
                </a:solidFill>
                <a:latin typeface="Helvetica"/>
              </a:rPr>
              <a:t>Data, Orchestration, Scientific/Spatial, and Deployment subsystems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417320"/>
            <a:ext cx="54406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PRESENTATION SECTION 2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8. Project Phases &amp; Timeline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10]
</a:t>
            </a:r>
            <a:r>
              <a:rPr sz="850">
                <a:solidFill>
                  <a:srgbClr val="1E293B"/>
                </a:solidFill>
                <a:latin typeface="Helvetica"/>
              </a:rPr>
              <a:t>8 Implementation phases from ingestion to harbor sea trials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9. Impacts, Economic Benefits &amp; Sustainability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11]
</a:t>
            </a:r>
            <a:r>
              <a:rPr sz="850">
                <a:solidFill>
                  <a:srgbClr val="1E293B"/>
                </a:solidFill>
                <a:latin typeface="Helvetica"/>
              </a:rPr>
              <a:t>35% fuel cut, ₹2,400 daily uplift, PMMSY &amp; UN SDG 14 alignment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10. Group Formation &amp; Responsibilities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12]
</a:t>
            </a:r>
            <a:r>
              <a:rPr sz="850">
                <a:solidFill>
                  <a:srgbClr val="1E293B"/>
                </a:solidFill>
                <a:latin typeface="Helvetica"/>
              </a:rPr>
              <a:t>Individual roles, deliverables, and presentation sections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11. Verified System Screenshots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[Slides 13-16]
</a:t>
            </a:r>
            <a:r>
              <a:rPr sz="850">
                <a:solidFill>
                  <a:srgbClr val="1E293B"/>
                </a:solidFill>
                <a:latin typeface="Helvetica"/>
              </a:rPr>
              <a:t>Code, Pytest, Ocean GIS HUD, Safety Engine, and Vernacular Voice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12. Feasibility Benchmarks &amp; Validation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17]
</a:t>
            </a:r>
            <a:r>
              <a:rPr sz="850">
                <a:solidFill>
                  <a:srgbClr val="1E293B"/>
                </a:solidFill>
                <a:latin typeface="Helvetica"/>
              </a:rPr>
              <a:t>34/34 Passing automated tests, &lt;850ms latency, 0% hallucination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13. Future Scope &amp; National Scaling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 18]
</a:t>
            </a:r>
            <a:r>
              <a:rPr sz="850">
                <a:solidFill>
                  <a:srgbClr val="1E293B"/>
                </a:solidFill>
                <a:latin typeface="Helvetica"/>
              </a:rPr>
              <a:t>NavIC integration, NMEA transponders, on-device SLMs, Coast Guard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F172A"/>
                </a:solidFill>
                <a:latin typeface="Helvetica"/>
              </a:rPr>
              <a:t>14. Conclusion &amp; Academic References </a:t>
            </a:r>
            <a:r>
              <a:rPr sz="850" b="1">
                <a:solidFill>
                  <a:srgbClr val="0284C7"/>
                </a:solidFill>
                <a:latin typeface="Helvetica"/>
              </a:rPr>
              <a:t>[Slides 19-21]
</a:t>
            </a:r>
            <a:r>
              <a:rPr sz="850">
                <a:solidFill>
                  <a:srgbClr val="1E293B"/>
                </a:solidFill>
                <a:latin typeface="Helvetica"/>
              </a:rPr>
              <a:t>Project synthesis, 8 academic citations, and open review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2 of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1: PROBLEM DEFINITION &amp; COMPLEXITY (10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Problem Statement, Related Work &amp;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EF4444"/>
                </a:solidFill>
                <a:latin typeface="Helvetica"/>
              </a:defRPr>
            </a:pPr>
            <a:r>
              <a:t>PROBLEM DEFINITION (3 REALITIES)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60% Fuel Economic Drain: </a:t>
            </a:r>
            <a:r>
              <a:rPr sz="880">
                <a:solidFill>
                  <a:srgbClr val="1E293B"/>
                </a:solidFill>
                <a:latin typeface="Helvetica"/>
              </a:rPr>
              <a:t>Artisanal skippers spend up to 60% of earnings on diesel, roaming 6-10 hours blindly searching for fish schools.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Language &amp; Literacy Barrier: </a:t>
            </a:r>
            <a:r>
              <a:rPr sz="880">
                <a:solidFill>
                  <a:srgbClr val="1E293B"/>
                </a:solidFill>
                <a:latin typeface="Helvetica"/>
              </a:rPr>
              <a:t>INCOIS and IMD publish complex scientific graphs in English; traditional fishermen cannot read or type on rocking boats.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High Sea &amp; Border Hazards: </a:t>
            </a:r>
            <a:r>
              <a:rPr sz="880">
                <a:solidFill>
                  <a:srgbClr val="1E293B"/>
                </a:solidFill>
                <a:latin typeface="Helvetica"/>
              </a:rPr>
              <a:t>Sudden 3m+ swells cause capsizing. Offshore drift crosses the International Boundary Line (IMBL), causing foreign arrests.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EF4444"/>
                </a:solidFill>
                <a:latin typeface="Helvetica"/>
              </a:defRPr>
            </a:pPr>
            <a:r>
              <a:t>QUANTITATIVE MARITIME REALITY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Fuel Drain Metric: </a:t>
            </a:r>
            <a:r>
              <a:rPr sz="880">
                <a:solidFill>
                  <a:srgbClr val="1E293B"/>
                </a:solidFill>
                <a:latin typeface="Helvetica"/>
              </a:rPr>
              <a:t>18 to 24 liters diesel wasted per trip roaming blindly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Household Loss: </a:t>
            </a:r>
            <a:r>
              <a:rPr sz="880">
                <a:solidFill>
                  <a:srgbClr val="1E293B"/>
                </a:solidFill>
                <a:latin typeface="Helvetica"/>
              </a:rPr>
              <a:t>₹1,800 to ₹2,400 daily earnings lost by artisanal families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Maritime Safety: </a:t>
            </a:r>
            <a:r>
              <a:rPr sz="880">
                <a:solidFill>
                  <a:srgbClr val="1E293B"/>
                </a:solidFill>
                <a:latin typeface="Helvetica"/>
              </a:rPr>
              <a:t>Severe capsizing hazard in &gt;2.5m unpredicted swell waves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RELATED WORK &amp; EXISTING LIMITS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Traditional Weather Portals: </a:t>
            </a:r>
            <a:r>
              <a:rPr sz="880">
                <a:solidFill>
                  <a:srgbClr val="1E293B"/>
                </a:solidFill>
                <a:latin typeface="Helvetica"/>
              </a:rPr>
              <a:t>Provide raw meteorological feeds (wind/waves) without translating into vessel-specific sail/no-sail safety advisories.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Static INCOIS PFZ Advisories: </a:t>
            </a:r>
            <a:r>
              <a:rPr sz="880">
                <a:solidFill>
                  <a:srgbClr val="1E293B"/>
                </a:solidFill>
                <a:latin typeface="Helvetica"/>
              </a:rPr>
              <a:t>Distributed as passive PDFs or SMS broadcasts with 24-48h latency; lacks interactive voice queries or route waypoints.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Deep-Sea Cellular Blackout: </a:t>
            </a:r>
            <a:r>
              <a:rPr sz="880">
                <a:solidFill>
                  <a:srgbClr val="1E293B"/>
                </a:solidFill>
                <a:latin typeface="Helvetica"/>
              </a:rPr>
              <a:t>Existing web portals crash when boats travel 10 to 15 nautical miles offshore where cellular signal drops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EXISTING PORTAL &amp; SCIENTIFIC GAPS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Dissemination Lag: </a:t>
            </a:r>
            <a:r>
              <a:rPr sz="880">
                <a:solidFill>
                  <a:srgbClr val="1E293B"/>
                </a:solidFill>
                <a:latin typeface="Helvetica"/>
              </a:rPr>
              <a:t>24-48h latency on static PDFs distributed via portals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Cellular Drop: </a:t>
            </a:r>
            <a:r>
              <a:rPr sz="880">
                <a:solidFill>
                  <a:srgbClr val="1E293B"/>
                </a:solidFill>
                <a:latin typeface="Helvetica"/>
              </a:rPr>
              <a:t>100% web connectivity failure beyond 10-15 NM offshore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Cognitive Overload: </a:t>
            </a:r>
            <a:r>
              <a:rPr sz="880">
                <a:solidFill>
                  <a:srgbClr val="1E293B"/>
                </a:solidFill>
                <a:latin typeface="Helvetica"/>
              </a:rPr>
              <a:t>Complex raw isolines impossible to interpret at sea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TECHNICAL COMPLEXITY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Multi-Modal Data Ingestion: </a:t>
            </a:r>
            <a:r>
              <a:rPr sz="880">
                <a:solidFill>
                  <a:srgbClr val="1E293B"/>
                </a:solidFill>
                <a:latin typeface="Helvetica"/>
              </a:rPr>
              <a:t>Harmonizing heterogeneous spatial formats (NetCDF, GRIB2, GeoJSON, REST APIs) with varying temporal refresh rates.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Zero-Hallucination Decoupling: </a:t>
            </a:r>
            <a:r>
              <a:rPr sz="880">
                <a:solidFill>
                  <a:srgbClr val="1E293B"/>
                </a:solidFill>
                <a:latin typeface="Helvetica"/>
              </a:rPr>
              <a:t>Preventing generative LLMs from inventing sea state numbers; enforcing hard-coded Python physics verification.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Offshore Edge Computing: </a:t>
            </a:r>
            <a:r>
              <a:rPr sz="880">
                <a:solidFill>
                  <a:srgbClr val="1E293B"/>
                </a:solidFill>
                <a:latin typeface="Helvetica"/>
              </a:rPr>
              <a:t>Running ray-casting geofencing and responsive speech UI entirely on-device with zero server connectivity at sea.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ORCA ARCHITECTURAL ENGINEERING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Parallel Agents: </a:t>
            </a:r>
            <a:r>
              <a:rPr sz="880">
                <a:solidFill>
                  <a:srgbClr val="1E293B"/>
                </a:solidFill>
                <a:latin typeface="Helvetica"/>
              </a:rPr>
              <a:t>FastAPI asyncio coordinating 8 agents under 850ms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Physics Decoupling: </a:t>
            </a:r>
            <a:r>
              <a:rPr sz="880">
                <a:solidFill>
                  <a:srgbClr val="1E293B"/>
                </a:solidFill>
                <a:latin typeface="Helvetica"/>
              </a:rPr>
              <a:t>Douglas 0-9 scale enforced strictly in Python math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Edge PWA Autonomy: </a:t>
            </a:r>
            <a:r>
              <a:rPr sz="880">
                <a:solidFill>
                  <a:srgbClr val="1E293B"/>
                </a:solidFill>
                <a:latin typeface="Helvetica"/>
              </a:rPr>
              <a:t>Offline Web Speech + Leaflet GIS cached up to 50 NM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3 of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2: LITERATURE REVIEW &amp; THEORETICAL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Literature Survey &amp; Research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3383280"/>
                <a:gridCol w="2956255"/>
              </a:tblGrid>
              <a:tr h="6792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Paper &amp; Forum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Title &amp; Core Proposal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Author Methodology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Helvetica"/>
                        </a:defRPr>
                      </a:pPr>
                      <a:r>
                        <a:t>Identified Drawback &amp; ORCA Solution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Helvetica"/>
                        </a:defRPr>
                      </a:pPr>
                      <a:r>
                        <a:t>IEEE ECIS (2025)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Multi-Agent Weather Routing for Autonomous Vessels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Spatio-temporal wave forecasts and deep RL to optimize vessel navigation paths avoiding dynamic sea obstacles.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Idealized ocean simulations with high latency. Lacks multi-source live telemetry and regional voice UI. (ORCA: &lt;850ms, Indic voice)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Helvetica"/>
                        </a:defRPr>
                      </a:pPr>
                      <a:r>
                        <a:t>Ocean Eng., Elsevier (2025)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Satellite PFZ Prediction Using Multi-Modal Remote Sensing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Integrates thermal infrared SST and ocean color Chlorophyll-a to detect oceanic upwelling zones and fish aggregations.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Centralized batch processing with 24-48h latency. Lacks weather safety scoring and navigable courses. (ORCA: Real-time dual routing)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Helvetica"/>
                        </a:defRPr>
                      </a:pPr>
                      <a:r>
                        <a:t>IJCNN (2025)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Grounded Agentic LLM Orchestration in Cyber-Physical Systems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Structured schema decomposition and tool-calling to orchestrate disparate APIs and domain sensors for situational reporting.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Susceptible to stochastic drift and numerical hallucinations. Lacks deterministic safety verifiers. (ORCA: Decoupled Python physics)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Helvetica"/>
                        </a:defRPr>
                      </a:pPr>
                      <a:r>
                        <a:t>Computers &amp; Geosciences (2024)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Spatial Indexing &amp; Geofencing for Marine Protected Areas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Polygonal ray-casting algorithms and PostGIS/R-Tree indexing for real-time vessel tracking and IMBL sanctuary containment.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Static boundary geometry only; ignores dynamic sea-state risk and weather penalties. (ORCA: Dynamic Sea Safety Score 0-100)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Helvetica"/>
                        </a:defRPr>
                      </a:pPr>
                      <a:r>
                        <a:t>Frontiers in Marine Science (2024)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Digital Interventions for Disseminating Ocean State Forecasts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Evaluated SMS, mobile apps, and community radios for broadcasting INCOIS bulletins and squall alerts to artisanal fishers.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One-way broadcast without interactive query dialogue; crashes offshore beyond cellular range. (ORCA: 100% Offline PWA &amp; Voice)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Helvetica"/>
                        </a:defRPr>
                      </a:pPr>
                      <a:r>
                        <a:t>JMSE, MDPI (2024)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Multi-Criteria Seakeeping Risk Modeling for Small-Scale Coastal Crafts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Empirical hydrodynamic modeling linking wave steepness, wind drag, and hull stability across various artisanal boat designs.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E293B"/>
                          </a:solidFill>
                          <a:latin typeface="Helvetica"/>
                        </a:defRPr>
                      </a:pPr>
                      <a:r>
                        <a:t>Complex mathematical formulation unsuitable for real-time boat skippers without automated translation. (ORCA: Instant Vessel Safety Verdict)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4 of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PROPOSED SOLUTION &amp; OBJECTIVES (12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Proposed Solution &amp; Foundational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OBJECTIVE 1: SATELLITE PFZ MAPPING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Ingest Multi-Satellite Feeds: </a:t>
            </a:r>
            <a:r>
              <a:rPr sz="919">
                <a:solidFill>
                  <a:srgbClr val="1E293B"/>
                </a:solidFill>
                <a:latin typeface="Helvetica"/>
              </a:rPr>
              <a:t>Blend NOAA GHRSST L4 sea surface temperature with ISRO Oceansat-3 Chlorophyll-a grids.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Pinpoint Feeding Zones: </a:t>
            </a:r>
            <a:r>
              <a:rPr sz="919">
                <a:solidFill>
                  <a:srgbClr val="1E293B"/>
                </a:solidFill>
                <a:latin typeface="Helvetica"/>
              </a:rPr>
              <a:t>Detect thermal gradient fronts where pelagic fish (Tuna, Mackerel) congregate.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Direct Compass Navigation: </a:t>
            </a:r>
            <a:r>
              <a:rPr sz="919">
                <a:solidFill>
                  <a:srgbClr val="1E293B"/>
                </a:solidFill>
                <a:latin typeface="Helvetica"/>
              </a:rPr>
              <a:t>Provide skippers with dynamic 16-point cardinal compass bearings and nautical distances.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OBJECTIVE 2: VERNACULAR VOICE INTERACTION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Eliminate Literacy Barriers: </a:t>
            </a:r>
            <a:r>
              <a:rPr sz="919">
                <a:solidFill>
                  <a:srgbClr val="1E293B"/>
                </a:solidFill>
                <a:latin typeface="Helvetica"/>
              </a:rPr>
              <a:t>Enable low-literacy artisanal fishers to interact entirely hands-free via spoken mother tongue.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12+ Coastal Indic Languages: </a:t>
            </a:r>
            <a:r>
              <a:rPr sz="919">
                <a:solidFill>
                  <a:srgbClr val="1E293B"/>
                </a:solidFill>
                <a:latin typeface="Helvetica"/>
              </a:rPr>
              <a:t>Full support for Marathi, Hindi, Tamil, Malayalam, Bengali, Telugu, Gujarati, etc.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Zero Cloud Transcription Cost: </a:t>
            </a:r>
            <a:r>
              <a:rPr sz="919">
                <a:solidFill>
                  <a:srgbClr val="1E293B"/>
                </a:solidFill>
                <a:latin typeface="Helvetica"/>
              </a:rPr>
              <a:t>Execute on-device browser Web Speech API without recurring per-minute cloud API fees.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OBJECTIVE 3: ZERO-HALLUCINATION SAFETY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Vessel-Specific Wave Limits: </a:t>
            </a:r>
            <a:r>
              <a:rPr sz="919">
                <a:solidFill>
                  <a:srgbClr val="1E293B"/>
                </a:solidFill>
                <a:latin typeface="Helvetica"/>
              </a:rPr>
              <a:t>Enforce strict wave thresholds (canoes &lt;1.8m, motorized &lt;2.5m, trawlers &lt;3.5m).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12 NM Border Warning Siren: </a:t>
            </a:r>
            <a:r>
              <a:rPr sz="919">
                <a:solidFill>
                  <a:srgbClr val="1E293B"/>
                </a:solidFill>
                <a:latin typeface="Helvetica"/>
              </a:rPr>
              <a:t>Sound urgent audio sirens 12 NM before crossing the International Boundary Line (IMBL).</a:t>
            </a:r>
          </a:p>
          <a:p>
            <a:pPr>
              <a:spcAft>
                <a:spcPts val="400"/>
              </a:spcAft>
            </a:pPr>
            <a:r>
              <a:rPr sz="919" b="1">
                <a:solidFill>
                  <a:srgbClr val="1E293B"/>
                </a:solidFill>
                <a:latin typeface="Helvetica"/>
              </a:rPr>
              <a:t>• 100% Offline Deep-Sea PWA: </a:t>
            </a:r>
            <a:r>
              <a:rPr sz="919">
                <a:solidFill>
                  <a:srgbClr val="1E293B"/>
                </a:solidFill>
                <a:latin typeface="Helvetica"/>
              </a:rPr>
              <a:t>Cache charts, bathymetry, and 12h forecasts to run seamlessly 15–50 NM beyond cellular towers.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28016"/>
          <a:lstStyle/>
          <a:p>
            <a:pPr algn="ctr">
              <a:spcAft>
                <a:spcPts val="600"/>
              </a:spcAft>
              <a:defRPr sz="1000" b="1">
                <a:solidFill>
                  <a:srgbClr val="0284C7"/>
                </a:solidFill>
                <a:latin typeface="Helvetica"/>
              </a:defRPr>
            </a:pPr>
            <a:r>
              <a:t>UNIFIED MARINE COPILOT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Aggregates fragmented ocean data into an interactive, voice-first decision assistant for skippers.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46704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28016"/>
          <a:lstStyle/>
          <a:p>
            <a:pPr algn="ctr">
              <a:spcAft>
                <a:spcPts val="600"/>
              </a:spcAft>
              <a:defRPr sz="1000" b="1">
                <a:solidFill>
                  <a:srgbClr val="8B5CF6"/>
                </a:solidFill>
                <a:latin typeface="Helvetica"/>
              </a:defRPr>
            </a:pPr>
            <a:r>
              <a:t>COMPILED SAFETY VERIFICATION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Safety score locked to compiled Python code based on Douglas Sea Scale 0-9; 0% hallucination.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28016"/>
          <a:lstStyle/>
          <a:p>
            <a:pPr algn="ctr">
              <a:spcAft>
                <a:spcPts val="600"/>
              </a:spcAft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DUAL PASSAGE PLANNING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Computes Route Alpha (coastal direct) vs Route Bravo (deep-water MPA sanctuary bypass).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28016"/>
          <a:lstStyle/>
          <a:p>
            <a:pPr algn="ctr">
              <a:spcAft>
                <a:spcPts val="600"/>
              </a:spcAft>
              <a:defRPr sz="1000" b="1">
                <a:solidFill>
                  <a:srgbClr val="F59E0B"/>
                </a:solidFill>
                <a:latin typeface="Helvetica"/>
              </a:defRPr>
            </a:pPr>
            <a:r>
              <a:t>FIELD VALIDATED PROTOTYPE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34/34 passing automated tests, validated across Cochin, Mumbai, Chennai, and Mangalore.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5 of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7: SCIENTIFIC &amp; MATHEMATICAL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Methodology: Data Ingestion, Safety Formula &amp; Dual-Routing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1. DATA INGESTION &amp; FRESHNESS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Pydantic v2 Ingestion Schemas: </a:t>
            </a:r>
            <a:r>
              <a:rPr sz="880">
                <a:solidFill>
                  <a:srgbClr val="1E293B"/>
                </a:solidFill>
                <a:latin typeface="Helvetica"/>
              </a:rPr>
              <a:t>All external satellite &amp; buoy payloads are strictly validated against strict domain models.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Data Freshness Ledger: </a:t>
            </a:r>
            <a:r>
              <a:rPr sz="880">
                <a:solidFill>
                  <a:srgbClr val="1E293B"/>
                </a:solidFill>
                <a:latin typeface="Helvetica"/>
              </a:rPr>
              <a:t>Tracks observation age; datasets older than 12 hours trigger an automatic +8 uncertainty penalty.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Multi-Source Fallback: </a:t>
            </a:r>
            <a:r>
              <a:rPr sz="880">
                <a:solidFill>
                  <a:srgbClr val="1E293B"/>
                </a:solidFill>
                <a:latin typeface="Helvetica"/>
              </a:rPr>
              <a:t>Graceful fallback: ISRO OCM-3 ➔ NOAA GHRSST ➔ Open-Meteo marine reanalysis grids.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INGESTION &amp; FRESHNESS FORMULA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Domain Schemas: </a:t>
            </a:r>
            <a:r>
              <a:rPr sz="880">
                <a:solidFill>
                  <a:srgbClr val="1E293B"/>
                </a:solidFill>
                <a:latin typeface="Helvetica"/>
              </a:rPr>
              <a:t>Strict Pydantic v2 models validate and sanitize all rasters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Freshness Penalty: </a:t>
            </a:r>
            <a:r>
              <a:rPr sz="880">
                <a:solidFill>
                  <a:srgbClr val="1E293B"/>
                </a:solidFill>
                <a:latin typeface="Helvetica"/>
              </a:rPr>
              <a:t>Data age &gt;12h incurs automatic +8 risk penalty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Triple Redundancy: </a:t>
            </a:r>
            <a:r>
              <a:rPr sz="880">
                <a:solidFill>
                  <a:srgbClr val="1E293B"/>
                </a:solidFill>
                <a:latin typeface="Helvetica"/>
              </a:rPr>
              <a:t>Fallback: ISRO OCM-3 ➔ NOAA GHRSST ➔ Open-Meteo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2. DETERMINISTIC SAFETY SCORE (0-100)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Multi-Factor Mathematical Formula: </a:t>
            </a:r>
            <a:r>
              <a:rPr sz="880">
                <a:solidFill>
                  <a:srgbClr val="1E293B"/>
                </a:solidFill>
                <a:latin typeface="Helvetica"/>
              </a:rPr>
              <a:t>Score = w_wave*S_wave + w_wind*S_wind + w_haz*S_haz + w_geo*S_geo + P_fresh.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Douglas Scale Calibration: </a:t>
            </a:r>
            <a:r>
              <a:rPr sz="880">
                <a:solidFill>
                  <a:srgbClr val="1E293B"/>
                </a:solidFill>
                <a:latin typeface="Helvetica"/>
              </a:rPr>
              <a:t>Waves &gt;2.5m for skiffs automatically force safety score &gt;70 (Strictly Prohibited).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Deterministic Code Enforcement: </a:t>
            </a:r>
            <a:r>
              <a:rPr sz="880">
                <a:solidFill>
                  <a:srgbClr val="1E293B"/>
                </a:solidFill>
                <a:latin typeface="Helvetica"/>
              </a:rPr>
              <a:t>Calculated purely in compiled Python math; the generative LLM has 0% access to alter scores.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DOUGLAS &amp; BEAUFORT SAFETY MATH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Deterministic Formula: </a:t>
            </a:r>
            <a:r>
              <a:rPr sz="880">
                <a:solidFill>
                  <a:srgbClr val="1E293B"/>
                </a:solidFill>
                <a:latin typeface="Helvetica"/>
              </a:rPr>
              <a:t>Score = Σ (w_i * S_i) + P_fresh (0 to 100 scale)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Hard Sea Thresholds: </a:t>
            </a:r>
            <a:r>
              <a:rPr sz="880">
                <a:solidFill>
                  <a:srgbClr val="1E293B"/>
                </a:solidFill>
                <a:latin typeface="Helvetica"/>
              </a:rPr>
              <a:t>Waves &gt;2.5m for skiffs force NO-SAIL safety score &gt;70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Zero Hallucination: </a:t>
            </a:r>
            <a:r>
              <a:rPr sz="880">
                <a:solidFill>
                  <a:srgbClr val="1E293B"/>
                </a:solidFill>
                <a:latin typeface="Helvetica"/>
              </a:rPr>
              <a:t>Compiled Python logic decoupled from generative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3. DUAL-ROUTE &amp; HARVEST ROI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Route Alpha (Coastal Direct): </a:t>
            </a:r>
            <a:r>
              <a:rPr sz="880">
                <a:solidFill>
                  <a:srgbClr val="1E293B"/>
                </a:solidFill>
                <a:latin typeface="Helvetica"/>
              </a:rPr>
              <a:t>Optimized for minimal fuel burn and shortest distance along designated coastal fairways.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Route Bravo (Seaward Sanctuary Bypass): </a:t>
            </a:r>
            <a:r>
              <a:rPr sz="880">
                <a:solidFill>
                  <a:srgbClr val="1E293B"/>
                </a:solidFill>
                <a:latin typeface="Helvetica"/>
              </a:rPr>
              <a:t>Curves seaward to enforce a mandatory 15 NM buffer around Marine Protected Areas (MPAs).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CMFRI Economic Harvest Model: </a:t>
            </a:r>
            <a:r>
              <a:rPr sz="880">
                <a:solidFill>
                  <a:srgbClr val="1E293B"/>
                </a:solidFill>
                <a:latin typeface="Helvetica"/>
              </a:rPr>
              <a:t>Projects catch value, diesel saved, and net ROI (+84% average) for the voyage.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SPATIAL GEOFENCING &amp; HARVEST ROI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Ray-Casting Speed: </a:t>
            </a:r>
            <a:r>
              <a:rPr sz="880">
                <a:solidFill>
                  <a:srgbClr val="1E293B"/>
                </a:solidFill>
                <a:latin typeface="Helvetica"/>
              </a:rPr>
              <a:t>Point-in-polygon checks executed in under 5ms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Sanctuary Buffer: </a:t>
            </a:r>
            <a:r>
              <a:rPr sz="880">
                <a:solidFill>
                  <a:srgbClr val="1E293B"/>
                </a:solidFill>
                <a:latin typeface="Helvetica"/>
              </a:rPr>
              <a:t>Enforces 15 NM minimum clearance around MPAs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Harvest Economics: </a:t>
            </a:r>
            <a:r>
              <a:rPr sz="880">
                <a:solidFill>
                  <a:srgbClr val="1E293B"/>
                </a:solidFill>
                <a:latin typeface="Helvetica"/>
              </a:rPr>
              <a:t>CMFRI catch models project +84% net voyage profit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6 of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6: SYSTEM ARCHITECTURE &amp;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System Architecture: 4-Layer Stack &amp; 8-Agent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ge_13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58368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0" y="1417320"/>
            <a:ext cx="43278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THE 8 COLLABORATIVE AGENTS PIPELINE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1: Planning Agent: </a:t>
            </a:r>
            <a:r>
              <a:rPr sz="850">
                <a:solidFill>
                  <a:srgbClr val="1E293B"/>
                </a:solidFill>
                <a:latin typeface="Helvetica"/>
              </a:rPr>
              <a:t>Deconstructs voice queries into structured execution DAGs.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2: Data Retrieval: </a:t>
            </a:r>
            <a:r>
              <a:rPr sz="850">
                <a:solidFill>
                  <a:srgbClr val="1E293B"/>
                </a:solidFill>
                <a:latin typeface="Helvetica"/>
              </a:rPr>
              <a:t>Dispatches async HTTPX calls to fetch NOAA, ISRO &amp; IMD feeds.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3: Ocean Analytics: </a:t>
            </a:r>
            <a:r>
              <a:rPr sz="850">
                <a:solidFill>
                  <a:srgbClr val="1E293B"/>
                </a:solidFill>
                <a:latin typeface="Helvetica"/>
              </a:rPr>
              <a:t>Detects SST thermal gradients (ΔT ≥ 0.5°C/km) &amp; Chl-a fronts.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4: Weather Intel: </a:t>
            </a:r>
            <a:r>
              <a:rPr sz="850">
                <a:solidFill>
                  <a:srgbClr val="1E293B"/>
                </a:solidFill>
                <a:latin typeface="Helvetica"/>
              </a:rPr>
              <a:t>Maps wind/wave vectors to Beaufort (0-12) &amp; Douglas (0-9) scales.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5: Alert &amp; Safety: </a:t>
            </a:r>
            <a:r>
              <a:rPr sz="850">
                <a:solidFill>
                  <a:srgbClr val="1E293B"/>
                </a:solidFill>
                <a:latin typeface="Helvetica"/>
              </a:rPr>
              <a:t>Monitors active IMD cyclone bulletins &amp; port danger signals 1-11.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6: Risk Assessment: </a:t>
            </a:r>
            <a:r>
              <a:rPr sz="850">
                <a:solidFill>
                  <a:srgbClr val="1E293B"/>
                </a:solidFill>
                <a:latin typeface="Helvetica"/>
              </a:rPr>
              <a:t>Executes deterministic 0-100 Sea Safety Score formula.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7: Dual-Route Planning: </a:t>
            </a:r>
            <a:r>
              <a:rPr sz="850">
                <a:solidFill>
                  <a:srgbClr val="1E293B"/>
                </a:solidFill>
                <a:latin typeface="Helvetica"/>
              </a:rPr>
              <a:t>PostGIS ray-casting for IMBL alarms &amp; MPA route bypass.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8: Response Synthesis: </a:t>
            </a:r>
            <a:r>
              <a:rPr sz="850">
                <a:solidFill>
                  <a:srgbClr val="1E293B"/>
                </a:solidFill>
                <a:latin typeface="Helvetica"/>
              </a:rPr>
              <a:t>Grounded text &amp; Indic voice synthesis with explicit citations.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7 of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8: DOMAIN EXPERTISE &amp;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Tools, Technology &amp; Maritime Domain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DATA &amp; SPATIAL GIS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Satellite Feeds: </a:t>
            </a:r>
            <a:r>
              <a:rPr sz="850">
                <a:solidFill>
                  <a:srgbClr val="1E293B"/>
                </a:solidFill>
                <a:latin typeface="Helvetica"/>
              </a:rPr>
              <a:t>NOAA CoastWatch GHRSST (L4), ISRO OCM-3.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Spatial Ray-Casting: </a:t>
            </a:r>
            <a:r>
              <a:rPr sz="850">
                <a:solidFill>
                  <a:srgbClr val="1E293B"/>
                </a:solidFill>
                <a:latin typeface="Helvetica"/>
              </a:rPr>
              <a:t>PostGIS &amp; Shapely point-in-polygon checks.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Marine Telemetry: </a:t>
            </a:r>
            <a:r>
              <a:rPr sz="850">
                <a:solidFill>
                  <a:srgbClr val="1E293B"/>
                </a:solidFill>
                <a:latin typeface="Helvetica"/>
              </a:rPr>
              <a:t>Open-Meteo Marine API, INCOIS Buoy Programme.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Bathymetry: </a:t>
            </a:r>
            <a:r>
              <a:rPr sz="850">
                <a:solidFill>
                  <a:srgbClr val="1E293B"/>
                </a:solidFill>
                <a:latin typeface="Helvetica"/>
              </a:rPr>
              <a:t>GEBCO depth contours &amp; coastal bathymetry grids.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SPATIAL DATA FOUNDATIONS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NOAA &amp; ISRO: </a:t>
            </a:r>
            <a:r>
              <a:rPr sz="850">
                <a:solidFill>
                  <a:srgbClr val="1E293B"/>
                </a:solidFill>
                <a:latin typeface="Helvetica"/>
              </a:rPr>
              <a:t>Ultra-high resolution SST raster grids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PostGIS &amp; Shapely: </a:t>
            </a:r>
            <a:r>
              <a:rPr sz="850">
                <a:solidFill>
                  <a:srgbClr val="1E293B"/>
                </a:solidFill>
                <a:latin typeface="Helvetica"/>
              </a:rPr>
              <a:t>Sub-5ms polygonal ray-casting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Marine Buoys: </a:t>
            </a:r>
            <a:r>
              <a:rPr sz="850">
                <a:solidFill>
                  <a:srgbClr val="1E293B"/>
                </a:solidFill>
                <a:latin typeface="Helvetica"/>
              </a:rPr>
              <a:t>Live wave telemetry from INCOIS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6704" y="1417320"/>
            <a:ext cx="26974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BACKEND &amp; MULTI-AGENT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Core Framework: </a:t>
            </a:r>
            <a:r>
              <a:rPr sz="850">
                <a:solidFill>
                  <a:srgbClr val="1E293B"/>
                </a:solidFill>
                <a:latin typeface="Helvetica"/>
              </a:rPr>
              <a:t>Python 3.13 / 3.14 Runtime, FastAPI ASGI.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Web Server: </a:t>
            </a:r>
            <a:r>
              <a:rPr sz="850">
                <a:solidFill>
                  <a:srgbClr val="1E293B"/>
                </a:solidFill>
                <a:latin typeface="Helvetica"/>
              </a:rPr>
              <a:t>Uvicorn asynchronous worker processes.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Agent Pipeline: </a:t>
            </a:r>
            <a:r>
              <a:rPr sz="850">
                <a:solidFill>
                  <a:srgbClr val="1E293B"/>
                </a:solidFill>
                <a:latin typeface="Helvetica"/>
              </a:rPr>
              <a:t>LangGraph state machine, Claude 3.5 Sonnet.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Validation &amp; Tests: </a:t>
            </a:r>
            <a:r>
              <a:rPr sz="850">
                <a:solidFill>
                  <a:srgbClr val="1E293B"/>
                </a:solidFill>
                <a:latin typeface="Helvetica"/>
              </a:rPr>
              <a:t>Pydantic v2 schemas, Pytest (34/34 passing).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BACKEND &amp; AGENTIC STACK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Python 3.13 &amp; FastAPI: </a:t>
            </a:r>
            <a:r>
              <a:rPr sz="850">
                <a:solidFill>
                  <a:srgbClr val="1E293B"/>
                </a:solidFill>
                <a:latin typeface="Helvetica"/>
              </a:rPr>
              <a:t>Asynchronous microservices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LangGraph State Machine: </a:t>
            </a:r>
            <a:r>
              <a:rPr sz="850">
                <a:solidFill>
                  <a:srgbClr val="1E293B"/>
                </a:solidFill>
                <a:latin typeface="Helvetica"/>
              </a:rPr>
              <a:t>8-agent sequential/parallel DAG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Automated Pytest: </a:t>
            </a:r>
            <a:r>
              <a:rPr sz="850">
                <a:solidFill>
                  <a:srgbClr val="1E293B"/>
                </a:solidFill>
                <a:latin typeface="Helvetica"/>
              </a:rPr>
              <a:t>34/34 passing test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417320"/>
            <a:ext cx="26974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SCIENTIFIC &amp; ROUTING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Douglas Sea Scale: </a:t>
            </a:r>
            <a:r>
              <a:rPr sz="850">
                <a:solidFill>
                  <a:srgbClr val="1E293B"/>
                </a:solidFill>
                <a:latin typeface="Helvetica"/>
              </a:rPr>
              <a:t>International 0-9 maritime wave risk scale.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Beaufort Wind Force: </a:t>
            </a:r>
            <a:r>
              <a:rPr sz="850">
                <a:solidFill>
                  <a:srgbClr val="1E293B"/>
                </a:solidFill>
                <a:latin typeface="Helvetica"/>
              </a:rPr>
              <a:t>Standard 0-12 surface wind velocity matrix.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Geodesic Routing: </a:t>
            </a:r>
            <a:r>
              <a:rPr sz="850">
                <a:solidFill>
                  <a:srgbClr val="1E293B"/>
                </a:solidFill>
                <a:latin typeface="Helvetica"/>
              </a:rPr>
              <a:t>Great-Circle azimuth headings &amp; waypoints.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Distress Protocol: </a:t>
            </a:r>
            <a:r>
              <a:rPr sz="850">
                <a:solidFill>
                  <a:srgbClr val="1E293B"/>
                </a:solidFill>
                <a:latin typeface="Helvetica"/>
              </a:rPr>
              <a:t>IMO GMDSS automated emergency dispatch.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MARITIME SAFETY STANDARDS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Douglas Sea Scale: </a:t>
            </a:r>
            <a:r>
              <a:rPr sz="850">
                <a:solidFill>
                  <a:srgbClr val="1E293B"/>
                </a:solidFill>
                <a:latin typeface="Helvetica"/>
              </a:rPr>
              <a:t>Standardized 0-9 wave risk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Beaufort Wind Force: </a:t>
            </a:r>
            <a:r>
              <a:rPr sz="850">
                <a:solidFill>
                  <a:srgbClr val="1E293B"/>
                </a:solidFill>
                <a:latin typeface="Helvetica"/>
              </a:rPr>
              <a:t>0-12 wind velocity limits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IMO COLREGS Rule 10: </a:t>
            </a:r>
            <a:r>
              <a:rPr sz="850">
                <a:solidFill>
                  <a:srgbClr val="1E293B"/>
                </a:solidFill>
                <a:latin typeface="Helvetica"/>
              </a:rPr>
              <a:t>Traffic Separation clearance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832" y="1417320"/>
            <a:ext cx="26974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FRONTEND &amp; DEPLOYMENT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Application Stack: </a:t>
            </a:r>
            <a:r>
              <a:rPr sz="850">
                <a:solidFill>
                  <a:srgbClr val="1E293B"/>
                </a:solidFill>
                <a:latin typeface="Helvetica"/>
              </a:rPr>
              <a:t>React 19 SPA, Vite, Leaflet.js ocean canvas.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Vernacular Voice: </a:t>
            </a:r>
            <a:r>
              <a:rPr sz="850">
                <a:solidFill>
                  <a:srgbClr val="1E293B"/>
                </a:solidFill>
                <a:latin typeface="Helvetica"/>
              </a:rPr>
              <a:t>Web Speech API (zero per-minute cloud fees).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Deep-Sea Autonomy: </a:t>
            </a:r>
            <a:r>
              <a:rPr sz="850">
                <a:solidFill>
                  <a:srgbClr val="1E293B"/>
                </a:solidFill>
                <a:latin typeface="Helvetica"/>
              </a:rPr>
              <a:t>Service Worker Stale-While-Revalidate tile cache.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Containerization: </a:t>
            </a:r>
            <a:r>
              <a:rPr sz="850">
                <a:solidFill>
                  <a:srgbClr val="1E293B"/>
                </a:solidFill>
                <a:latin typeface="Helvetica"/>
              </a:rPr>
              <a:t>Docker, Docker-Compose, Render cloud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42832" y="3977639"/>
            <a:ext cx="26974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OFFSHORE CLIENT INTERFACE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React 19 &amp; Leaflet: </a:t>
            </a:r>
            <a:r>
              <a:rPr sz="850">
                <a:solidFill>
                  <a:srgbClr val="1E293B"/>
                </a:solidFill>
                <a:latin typeface="Helvetica"/>
              </a:rPr>
              <a:t>Hardware-accelerated GIS canvas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Web Speech API: </a:t>
            </a:r>
            <a:r>
              <a:rPr sz="850">
                <a:solidFill>
                  <a:srgbClr val="1E293B"/>
                </a:solidFill>
                <a:latin typeface="Helvetica"/>
              </a:rPr>
              <a:t>Zero per-minute voice fees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Service Worker Cache: </a:t>
            </a:r>
            <a:r>
              <a:rPr sz="850">
                <a:solidFill>
                  <a:srgbClr val="1E293B"/>
                </a:solidFill>
                <a:latin typeface="Helvetica"/>
              </a:rPr>
              <a:t>50 NM deep-sea offline autonomy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8 of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SYSTEM ARCHITECTURE TOPOLOGY &amp;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System Overview: Four Functional Subsystems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64592"/>
          <a:lstStyle/>
          <a:p>
            <a:pPr algn="ctr">
              <a:spcAft>
                <a:spcPts val="400"/>
              </a:spcAft>
              <a:defRPr sz="1050" b="1">
                <a:solidFill>
                  <a:srgbClr val="0284C7"/>
                </a:solidFill>
                <a:latin typeface="Helvetica"/>
              </a:defRPr>
            </a:pPr>
            <a:r>
              <a:t>DATA SUBSYSTEM</a:t>
            </a:r>
          </a:p>
          <a:p>
            <a:pPr>
              <a:spcAft>
                <a:spcPts val="8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NOAA SST, ISRO Chl-a, IMD Buoys, Open-Meteo Waves, Bathymetry Grids.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Multi-Source Ingestion: </a:t>
            </a:r>
            <a:r>
              <a:rPr sz="850">
                <a:solidFill>
                  <a:srgbClr val="1E293B"/>
                </a:solidFill>
                <a:latin typeface="Helvetica"/>
              </a:rPr>
              <a:t>Pydantic v2 domain schemas validating satellite rasters and buoy telemetry.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Freshness Tracker: </a:t>
            </a:r>
            <a:r>
              <a:rPr sz="850">
                <a:solidFill>
                  <a:srgbClr val="1E293B"/>
                </a:solidFill>
                <a:latin typeface="Helvetica"/>
              </a:rPr>
              <a:t>Classifies observations into LIVE (&lt;3h), NEAR-REAL-TIME (3-12h), DELAYED (&gt;12h).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Redundancy: </a:t>
            </a:r>
            <a:r>
              <a:rPr sz="850">
                <a:solidFill>
                  <a:srgbClr val="1E293B"/>
                </a:solidFill>
                <a:latin typeface="Helvetica"/>
              </a:rPr>
              <a:t>Triple-tier automatic fallback across ISRO, NOAA, and ECMWF ocean grids.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6704" y="141732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64592"/>
          <a:lstStyle/>
          <a:p>
            <a:pPr algn="ctr">
              <a:spcAft>
                <a:spcPts val="400"/>
              </a:spcAft>
              <a:defRPr sz="1050" b="1">
                <a:solidFill>
                  <a:srgbClr val="8B5CF6"/>
                </a:solidFill>
                <a:latin typeface="Helvetica"/>
              </a:defRPr>
            </a:pPr>
            <a:r>
              <a:t>ORCHESTRATION SUBSYSTEM</a:t>
            </a:r>
          </a:p>
          <a:p>
            <a:pPr>
              <a:spcAft>
                <a:spcPts val="8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FastAPI Asynchronous Gateway, 8 Collaborative AI Agents, LangGraph.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Asynchronous Gateway: </a:t>
            </a:r>
            <a:r>
              <a:rPr sz="850">
                <a:solidFill>
                  <a:srgbClr val="1E293B"/>
                </a:solidFill>
                <a:latin typeface="Helvetica"/>
              </a:rPr>
              <a:t>ASGI pipeline processing parallel HTTPX multi-agent queries under 850ms.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Intent Decomposition: </a:t>
            </a:r>
            <a:r>
              <a:rPr sz="850">
                <a:solidFill>
                  <a:srgbClr val="1E293B"/>
                </a:solidFill>
                <a:latin typeface="Helvetica"/>
              </a:rPr>
              <a:t>Planning agent converts spoken prompts into structured execution DAGs.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Deterministic Fallback: </a:t>
            </a:r>
            <a:r>
              <a:rPr sz="850">
                <a:solidFill>
                  <a:srgbClr val="1E293B"/>
                </a:solidFill>
                <a:latin typeface="Helvetica"/>
              </a:rPr>
              <a:t>Sub-5ms regex and local geocoding engine when external APIs are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41732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64592"/>
          <a:lstStyle/>
          <a:p>
            <a:pPr algn="ctr">
              <a:spcAft>
                <a:spcPts val="400"/>
              </a:spcAft>
              <a:defRPr sz="1050" b="1">
                <a:solidFill>
                  <a:srgbClr val="10B981"/>
                </a:solidFill>
                <a:latin typeface="Helvetica"/>
              </a:defRPr>
            </a:pPr>
            <a:r>
              <a:t>SCIENTIFIC &amp; SPATIAL SUBSYSTEM</a:t>
            </a:r>
          </a:p>
          <a:p>
            <a:pPr>
              <a:spcAft>
                <a:spcPts val="8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Deterministic 0-100 Sea Safety, Ray-Casting Geofence, Thermal Gradient.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Safety Matrix: </a:t>
            </a:r>
            <a:r>
              <a:rPr sz="850">
                <a:solidFill>
                  <a:srgbClr val="1E293B"/>
                </a:solidFill>
                <a:latin typeface="Helvetica"/>
              </a:rPr>
              <a:t>Calculates quantitative 0-100 Sea Safety Score decoupled from generative AI.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Ray-Casting Geofencing: </a:t>
            </a:r>
            <a:r>
              <a:rPr sz="850">
                <a:solidFill>
                  <a:srgbClr val="1E293B"/>
                </a:solidFill>
                <a:latin typeface="Helvetica"/>
              </a:rPr>
              <a:t>Sub-5ms point-in-polygon containment for 12 NM IMBL border siren.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Thermal Front Detection: </a:t>
            </a:r>
            <a:r>
              <a:rPr sz="850">
                <a:solidFill>
                  <a:srgbClr val="1E293B"/>
                </a:solidFill>
                <a:latin typeface="Helvetica"/>
              </a:rPr>
              <a:t>Identifies SST gradients (ΔT ≥ 0.5°C/km) and upwelling fish feeding zones.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17320"/>
            <a:ext cx="2697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64592"/>
          <a:lstStyle/>
          <a:p>
            <a:pPr algn="ctr">
              <a:spcAft>
                <a:spcPts val="400"/>
              </a:spcAft>
              <a:defRPr sz="1050" b="1">
                <a:solidFill>
                  <a:srgbClr val="F59E0B"/>
                </a:solidFill>
                <a:latin typeface="Helvetica"/>
              </a:defRPr>
            </a:pPr>
            <a:r>
              <a:t>DEPLOYMENT &amp; INTERFACE SUBSYSTEM</a:t>
            </a:r>
          </a:p>
          <a:p>
            <a:pPr>
              <a:spcAft>
                <a:spcPts val="8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React 19 PWA, Web Speech Engine, Leaflet GIS, jsPDF GMDSS Dispatch.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Leaflet Ocean Canvas: </a:t>
            </a:r>
            <a:r>
              <a:rPr sz="850">
                <a:solidFill>
                  <a:srgbClr val="1E293B"/>
                </a:solidFill>
                <a:latin typeface="Helvetica"/>
              </a:rPr>
              <a:t>Hardware-accelerated GIS with SST heatmaps, depth soundings, and vessel vectors.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Indic Voice Copilot: </a:t>
            </a:r>
            <a:r>
              <a:rPr sz="850">
                <a:solidFill>
                  <a:srgbClr val="1E293B"/>
                </a:solidFill>
                <a:latin typeface="Helvetica"/>
              </a:rPr>
              <a:t>Browser-native Web Speech API in Marathi, Hindi, Tamil, and 12+ coastal dialects.</a:t>
            </a:r>
          </a:p>
          <a:p>
            <a:pPr>
              <a:spcAft>
                <a:spcPts val="6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Offline Autonomy: </a:t>
            </a:r>
            <a:r>
              <a:rPr sz="850">
                <a:solidFill>
                  <a:srgbClr val="1E293B"/>
                </a:solidFill>
                <a:latin typeface="Helvetica"/>
              </a:rPr>
              <a:t>50 NM deep-sea offline operation via Service Worker cache and client-side PDF dispatch.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9 of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PROJECT MANAGEMENT: 8 SYSTEM PHASES &amp;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Project Phases &amp; Execution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COMPLETED CORE FOUNDATIONS (PHASES 1-4)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1: DATA INGESTION &amp; SCHEMAS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NOAA SST, ISRO OCM-3, IMD telemetry, and Pydantic v2 schemas.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2: SPATIAL INDEXING &amp; GEOFENCING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PostGIS polygonal ray-casting for MPAs and 12 NM IMBL border siren.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3: SCIENTIFIC RISK &amp; DUAL-ROUTING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0-100 Sea Safety Score, Douglas Scale math, and Route Alpha/Bravo.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4: 8-AGENT ORCHESTRATION PIPELINE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FastAPI async gateway coordinating all 8 collaborative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417320"/>
            <a:ext cx="544068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ADVANCED CAPABILITIES &amp; SEA TRIALS (PHASES 5-8)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5: LEAFLET OCEAN GIS &amp; HUD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Responsive marine canvas, wind particles, bathymetry, and telemetry.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6: MULTILINGUAL VOICE &amp; DIALECTS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Hands-free Indic Web Speech locking in Marathi, Hindi, and Tamil.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7: OFFLINE PWA &amp; DISTRESS PDF </a:t>
            </a:r>
            <a:r>
              <a:rPr sz="800" b="1">
                <a:solidFill>
                  <a:srgbClr val="10B981"/>
                </a:solidFill>
                <a:latin typeface="Helvetica"/>
              </a:rPr>
              <a:t>[COMPLETED]
</a:t>
            </a:r>
            <a:r>
              <a:rPr sz="850">
                <a:solidFill>
                  <a:srgbClr val="1E293B"/>
                </a:solidFill>
                <a:latin typeface="Helvetica"/>
              </a:rPr>
              <a:t>Service Worker tile cache and client-side jsPDF GMDSS emergency receipt.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Helvetica"/>
              </a:rPr>
              <a:t>PHASE 8: VESSEL HARDWARE &amp; HARBOR TRIALS </a:t>
            </a:r>
            <a:r>
              <a:rPr sz="800" b="1">
                <a:solidFill>
                  <a:srgbClr val="F59E0B"/>
                </a:solidFill>
                <a:latin typeface="Helvetica"/>
              </a:rPr>
              <a:t>[IN PROGRESS]
</a:t>
            </a:r>
            <a:r>
              <a:rPr sz="850">
                <a:solidFill>
                  <a:srgbClr val="1E293B"/>
                </a:solidFill>
                <a:latin typeface="Helvetica"/>
              </a:rPr>
              <a:t>NMEA-2000 vessel bridge integration and field trials with fishers.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29200"/>
            <a:ext cx="11094415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09728"/>
          <a:lstStyle/>
          <a:p>
            <a:pPr algn="ctr">
              <a:spcAft>
                <a:spcPts val="300"/>
              </a:spcAft>
              <a:defRPr sz="950" b="1">
                <a:solidFill>
                  <a:srgbClr val="0284C7"/>
                </a:solidFill>
                <a:latin typeface="Helvetica"/>
              </a:defRPr>
            </a:pPr>
            <a:r>
              <a:t>PROJECT MANAGEMENT GOVERNANCE &amp; DEPLOYMENT READINESS</a:t>
            </a:r>
          </a:p>
          <a:p>
            <a:pPr>
              <a:defRPr sz="850">
                <a:solidFill>
                  <a:srgbClr val="1E293B"/>
                </a:solidFill>
                <a:latin typeface="Helvetica"/>
              </a:defRPr>
            </a:pPr>
            <a:r>
              <a:t>• Phase 1–7 Status: 100% verified in software with 34/34 automated Pytest tests across all subsystems.</a:t>
            </a:r>
            <a:br/>
            <a:r>
              <a:t>• Phase 8 Target: Field sea trials with artisanal fishermen community at Cochin fisheries harbour.</a:t>
            </a:r>
            <a:br/>
            <a:r>
              <a:t>• Deployment Architecture: Production-ready Docker container deployed on cloud with CI/CD.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10 of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3: COST &amp; SUSTAINABILITY (8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Cost, Resources, Environmental Relevance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COST &amp; RESOURCE EFFICIENCY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100% Free for Artisanal Fishers: </a:t>
            </a:r>
            <a:r>
              <a:rPr sz="880">
                <a:solidFill>
                  <a:srgbClr val="1E293B"/>
                </a:solidFill>
                <a:latin typeface="Helvetica"/>
              </a:rPr>
              <a:t>No expensive marine hardware required; runs entirely on standard smartphones inside mobile browsers.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Zero Cloud Voice Overhead: </a:t>
            </a:r>
            <a:r>
              <a:rPr sz="880">
                <a:solidFill>
                  <a:srgbClr val="1E293B"/>
                </a:solidFill>
                <a:latin typeface="Helvetica"/>
              </a:rPr>
              <a:t>Client-side Web Speech API completely eliminates recurring per-minute speech-to-text API charges.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Minimal Cloud Compute Footprint: </a:t>
            </a:r>
            <a:r>
              <a:rPr sz="880">
                <a:solidFill>
                  <a:srgbClr val="1E293B"/>
                </a:solidFill>
                <a:latin typeface="Helvetica"/>
              </a:rPr>
              <a:t>Lightweight 2-vCPU asynchronous backend handles 1,000+ simultaneous vessel requests.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ZERO-CAPEX HARDWARE DEPLOYMENT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Free Mobile Access: </a:t>
            </a:r>
            <a:r>
              <a:rPr sz="880">
                <a:solidFill>
                  <a:srgbClr val="1E293B"/>
                </a:solidFill>
                <a:latin typeface="Helvetica"/>
              </a:rPr>
              <a:t>Operates in web browser on standard smartphones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Zero Cloud Bills: </a:t>
            </a:r>
            <a:r>
              <a:rPr sz="880">
                <a:solidFill>
                  <a:srgbClr val="1E293B"/>
                </a:solidFill>
                <a:latin typeface="Helvetica"/>
              </a:rPr>
              <a:t>On-device Web Speech API eliminates per-minute fees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Server Footprint: </a:t>
            </a:r>
            <a:r>
              <a:rPr sz="880">
                <a:solidFill>
                  <a:srgbClr val="1E293B"/>
                </a:solidFill>
                <a:latin typeface="Helvetica"/>
              </a:rPr>
              <a:t>2-vCPU async gateway serves 1,000+ boats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ENVIRONMENTAL RELEVANCE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35% Direct Diesel Reduction: </a:t>
            </a:r>
            <a:r>
              <a:rPr sz="880">
                <a:solidFill>
                  <a:srgbClr val="1E293B"/>
                </a:solidFill>
                <a:latin typeface="Helvetica"/>
              </a:rPr>
              <a:t>Saves 18 to 24 liters of diesel per voyage by navigating directly to satellite-confirmed fish hotspots.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Carbon Footprint Abatement: </a:t>
            </a:r>
            <a:r>
              <a:rPr sz="880">
                <a:solidFill>
                  <a:srgbClr val="1E293B"/>
                </a:solidFill>
                <a:latin typeface="Helvetica"/>
              </a:rPr>
              <a:t>Cuts &gt;140 kg of CO2 emissions per boat each month across India's motorized fishing fleet.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Marine Sanctuary Protection: </a:t>
            </a:r>
            <a:r>
              <a:rPr sz="880">
                <a:solidFill>
                  <a:srgbClr val="1E293B"/>
                </a:solidFill>
                <a:latin typeface="Helvetica"/>
              </a:rPr>
              <a:t>Route Bravo actively detours vessels away from sensitive coral reefs (Gulf of Mannar, Gahirmatha).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ECOSYSTEM PRESERVATION METRICS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35% Fuel Reduction: </a:t>
            </a:r>
            <a:r>
              <a:rPr sz="880">
                <a:solidFill>
                  <a:srgbClr val="1E293B"/>
                </a:solidFill>
                <a:latin typeface="Helvetica"/>
              </a:rPr>
              <a:t>Saves 18-24L diesel per voyage via direct routing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Carbon Abatement: </a:t>
            </a:r>
            <a:r>
              <a:rPr sz="880">
                <a:solidFill>
                  <a:srgbClr val="1E293B"/>
                </a:solidFill>
                <a:latin typeface="Helvetica"/>
              </a:rPr>
              <a:t>Cuts &gt;140 kg CO2 per vessel each month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Sanctuary Buffer: </a:t>
            </a:r>
            <a:r>
              <a:rPr sz="880">
                <a:solidFill>
                  <a:srgbClr val="1E293B"/>
                </a:solidFill>
                <a:latin typeface="Helvetica"/>
              </a:rPr>
              <a:t>15 NM buffer preserves fragile coral reefs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17320"/>
            <a:ext cx="361188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ECONOMIC SUSTAINABILITY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₹1,800 to ₹2,400 Daily Uplift: </a:t>
            </a:r>
            <a:r>
              <a:rPr sz="880">
                <a:solidFill>
                  <a:srgbClr val="1E293B"/>
                </a:solidFill>
                <a:latin typeface="Helvetica"/>
              </a:rPr>
              <a:t>Direct fuel savings return substantial earnings to artisanal coastal families every single trip.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Pradhan Mantri Matsya Sampada: </a:t>
            </a:r>
            <a:r>
              <a:rPr sz="880">
                <a:solidFill>
                  <a:srgbClr val="1E293B"/>
                </a:solidFill>
                <a:latin typeface="Helvetica"/>
              </a:rPr>
              <a:t>Directly fulfills PMMSY national goals for modernized, secure, and sustainable Indian fisheries.</a:t>
            </a:r>
          </a:p>
          <a:p>
            <a:pPr>
              <a:spcAft>
                <a:spcPts val="3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UN SDG 14 Compliance: </a:t>
            </a:r>
            <a:r>
              <a:rPr sz="880">
                <a:solidFill>
                  <a:srgbClr val="1E293B"/>
                </a:solidFill>
                <a:latin typeface="Helvetica"/>
              </a:rPr>
              <a:t>Strongly advances United Nations Sustainable Development Goal 14 (Life Below Water).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977639"/>
            <a:ext cx="361188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SOCIO-ECONOMIC TRANSFORMATION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₹2,400 Daily Uplift: </a:t>
            </a:r>
            <a:r>
              <a:rPr sz="880">
                <a:solidFill>
                  <a:srgbClr val="1E293B"/>
                </a:solidFill>
                <a:latin typeface="Helvetica"/>
              </a:rPr>
              <a:t>Substantial income boost for artisanal families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UN SDG 14: </a:t>
            </a:r>
            <a:r>
              <a:rPr sz="880">
                <a:solidFill>
                  <a:srgbClr val="1E293B"/>
                </a:solidFill>
                <a:latin typeface="Helvetica"/>
              </a:rPr>
              <a:t>Direct alignment with Life Below Water goals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PMMSY Vision: </a:t>
            </a:r>
            <a:r>
              <a:rPr sz="880">
                <a:solidFill>
                  <a:srgbClr val="1E293B"/>
                </a:solidFill>
                <a:latin typeface="Helvetica"/>
              </a:rPr>
              <a:t>Fulfills Pradhan Mantri Matsya Sampada mission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11 of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PARAMETER 4: TEAMWORK &amp; RESPONSIBILITIES (10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Group Formation &amp; Individual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1488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AKASH KUMAR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Team Lead &amp; Orchestration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Core Role: </a:t>
            </a:r>
            <a:r>
              <a:rPr sz="850">
                <a:solidFill>
                  <a:srgbClr val="1E293B"/>
                </a:solidFill>
                <a:latin typeface="Helvetica"/>
              </a:rPr>
              <a:t>FastAPI Hub, LangGraph orchestration, multi-agent coordinator.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Deliverable: </a:t>
            </a:r>
            <a:r>
              <a:rPr sz="850">
                <a:solidFill>
                  <a:srgbClr val="1E293B"/>
                </a:solidFill>
                <a:latin typeface="Helvetica"/>
              </a:rPr>
              <a:t>Async HTTPX parallel routing, 34/34 passing test suite.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Section: </a:t>
            </a:r>
            <a:r>
              <a:rPr sz="850">
                <a:solidFill>
                  <a:srgbClr val="1E293B"/>
                </a:solidFill>
                <a:latin typeface="Helvetica"/>
              </a:rPr>
              <a:t>Problem Definition, Literature Survey, Synthesis.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214884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KEY DELIVERABLES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Frameworks: </a:t>
            </a:r>
            <a:r>
              <a:rPr sz="850">
                <a:solidFill>
                  <a:srgbClr val="1E293B"/>
                </a:solidFill>
                <a:latin typeface="Helvetica"/>
              </a:rPr>
              <a:t>FastAPI, LangGraph, Python 3.13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Milestone: </a:t>
            </a:r>
            <a:r>
              <a:rPr sz="850">
                <a:solidFill>
                  <a:srgbClr val="1E293B"/>
                </a:solidFill>
                <a:latin typeface="Helvetica"/>
              </a:rPr>
              <a:t>Sub-850ms multi-agent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417320"/>
            <a:ext cx="21488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SANSKAR BHARGUDE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Marine Data &amp; Telemetry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Core Role: </a:t>
            </a:r>
            <a:r>
              <a:rPr sz="850">
                <a:solidFill>
                  <a:srgbClr val="1E293B"/>
                </a:solidFill>
                <a:latin typeface="Helvetica"/>
              </a:rPr>
              <a:t>Live satellite ingestion (NOAA SST L4, ISRO OCM-3), IMD.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Deliverable: </a:t>
            </a:r>
            <a:r>
              <a:rPr sz="850">
                <a:solidFill>
                  <a:srgbClr val="1E293B"/>
                </a:solidFill>
                <a:latin typeface="Helvetica"/>
              </a:rPr>
              <a:t>Pydantic v2 schemas, freshness ledger (+8 penalty).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Section: </a:t>
            </a:r>
            <a:r>
              <a:rPr sz="850">
                <a:solidFill>
                  <a:srgbClr val="1E293B"/>
                </a:solidFill>
                <a:latin typeface="Helvetica"/>
              </a:rPr>
              <a:t>Project Objectives, Proposed Solution &amp;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977639"/>
            <a:ext cx="214884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KEY DELIVERABLES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Frameworks: </a:t>
            </a:r>
            <a:r>
              <a:rPr sz="850">
                <a:solidFill>
                  <a:srgbClr val="1E293B"/>
                </a:solidFill>
                <a:latin typeface="Helvetica"/>
              </a:rPr>
              <a:t>NOAA GHRSST, ISRO OCM-3, IMD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Milestone: </a:t>
            </a:r>
            <a:r>
              <a:rPr sz="850">
                <a:solidFill>
                  <a:srgbClr val="1E293B"/>
                </a:solidFill>
                <a:latin typeface="Helvetica"/>
              </a:rPr>
              <a:t>Automated 12h freshness ledger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417320"/>
            <a:ext cx="21488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GHANSHAM AGALDARE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Scientific Engines &amp; Safety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Core Role: </a:t>
            </a:r>
            <a:r>
              <a:rPr sz="850">
                <a:solidFill>
                  <a:srgbClr val="1E293B"/>
                </a:solidFill>
                <a:latin typeface="Helvetica"/>
              </a:rPr>
              <a:t>Douglas Sea State (0-9), Beaufort scale, Multi-Factor Risk.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Deliverable: </a:t>
            </a:r>
            <a:r>
              <a:rPr sz="850">
                <a:solidFill>
                  <a:srgbClr val="1E293B"/>
                </a:solidFill>
                <a:latin typeface="Helvetica"/>
              </a:rPr>
              <a:t>Deterministic 0-100 safety score, 0% AI hallucination.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Section: </a:t>
            </a:r>
            <a:r>
              <a:rPr sz="850">
                <a:solidFill>
                  <a:srgbClr val="1E293B"/>
                </a:solidFill>
                <a:latin typeface="Helvetica"/>
              </a:rPr>
              <a:t>Scientific Methodology, Domain Tools, Sustainability.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977639"/>
            <a:ext cx="214884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KEY DELIVERABLES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Frameworks: </a:t>
            </a:r>
            <a:r>
              <a:rPr sz="850">
                <a:solidFill>
                  <a:srgbClr val="1E293B"/>
                </a:solidFill>
                <a:latin typeface="Helvetica"/>
              </a:rPr>
              <a:t>WMO Douglas &amp; Beaufort Scales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Milestone: </a:t>
            </a:r>
            <a:r>
              <a:rPr sz="850">
                <a:solidFill>
                  <a:srgbClr val="1E293B"/>
                </a:solidFill>
                <a:latin typeface="Helvetica"/>
              </a:rPr>
              <a:t>Decoupled 0.0% hallucination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1417320"/>
            <a:ext cx="21488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HARI BIRARE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PFZ Analytics &amp; Dual-Routing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Core Role: </a:t>
            </a:r>
            <a:r>
              <a:rPr sz="850">
                <a:solidFill>
                  <a:srgbClr val="1E293B"/>
                </a:solidFill>
                <a:latin typeface="Helvetica"/>
              </a:rPr>
              <a:t>Thermal gradient edge detection, PostGIS ray-casting, MPAs.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Deliverable: </a:t>
            </a:r>
            <a:r>
              <a:rPr sz="850">
                <a:solidFill>
                  <a:srgbClr val="1E293B"/>
                </a:solidFill>
                <a:latin typeface="Helvetica"/>
              </a:rPr>
              <a:t>Dynamic 16-point azimuth compass bearings, CMFRI ROI.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Section: </a:t>
            </a:r>
            <a:r>
              <a:rPr sz="850">
                <a:solidFill>
                  <a:srgbClr val="1E293B"/>
                </a:solidFill>
                <a:latin typeface="Helvetica"/>
              </a:rPr>
              <a:t>Team Responsibilities, Project Phases, Live Demo.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3977639"/>
            <a:ext cx="214884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KEY DELIVERABLES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Frameworks: </a:t>
            </a:r>
            <a:r>
              <a:rPr sz="850">
                <a:solidFill>
                  <a:srgbClr val="1E293B"/>
                </a:solidFill>
                <a:latin typeface="Helvetica"/>
              </a:rPr>
              <a:t>PostGIS, Shapely, CMFRI Model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Milestone: </a:t>
            </a:r>
            <a:r>
              <a:rPr sz="850">
                <a:solidFill>
                  <a:srgbClr val="1E293B"/>
                </a:solidFill>
                <a:latin typeface="Helvetica"/>
              </a:rPr>
              <a:t>Dual Route Alpha &amp; Bravo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1417320"/>
            <a:ext cx="214884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EF4444"/>
                </a:solidFill>
                <a:latin typeface="Helvetica"/>
              </a:defRPr>
            </a:pPr>
            <a:r>
              <a:t>KRISHNA AHER</a:t>
            </a:r>
          </a:p>
          <a:p>
            <a:pPr>
              <a:spcAft>
                <a:spcPts val="400"/>
              </a:spcAft>
              <a:defRPr sz="850" b="1">
                <a:solidFill>
                  <a:srgbClr val="475569"/>
                </a:solidFill>
                <a:latin typeface="Helvetica"/>
              </a:defRPr>
            </a:pPr>
            <a:r>
              <a:t>Frontend PWA &amp; Voice Engine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Core Role: </a:t>
            </a:r>
            <a:r>
              <a:rPr sz="850">
                <a:solidFill>
                  <a:srgbClr val="1E293B"/>
                </a:solidFill>
                <a:latin typeface="Helvetica"/>
              </a:rPr>
              <a:t>React 19 PWA, Web Speech API Indic dialects, Service Worker.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Deliverable: </a:t>
            </a:r>
            <a:r>
              <a:rPr sz="850">
                <a:solidFill>
                  <a:srgbClr val="1E293B"/>
                </a:solidFill>
                <a:latin typeface="Helvetica"/>
              </a:rPr>
              <a:t>Sub-5ms Ray-Casting IMBL geofence siren, 50 NM cache.</a:t>
            </a:r>
          </a:p>
          <a:p>
            <a:pPr>
              <a:spcAft>
                <a:spcPts val="3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Section: </a:t>
            </a:r>
            <a:r>
              <a:rPr sz="850">
                <a:solidFill>
                  <a:srgbClr val="1E293B"/>
                </a:solidFill>
                <a:latin typeface="Helvetica"/>
              </a:rPr>
              <a:t>Feasibility (34/34 Tests), Future Scope &amp; Defense.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3977639"/>
            <a:ext cx="2148840" cy="21488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EF4444"/>
                </a:solidFill>
                <a:latin typeface="Helvetica"/>
              </a:defRPr>
            </a:pPr>
            <a:r>
              <a:t>KEY DELIVERABLES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Frameworks: </a:t>
            </a:r>
            <a:r>
              <a:rPr sz="850">
                <a:solidFill>
                  <a:srgbClr val="1E293B"/>
                </a:solidFill>
                <a:latin typeface="Helvetica"/>
              </a:rPr>
              <a:t>React 19, Leaflet, Web Speech API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Milestone: </a:t>
            </a:r>
            <a:r>
              <a:rPr sz="850">
                <a:solidFill>
                  <a:srgbClr val="1E293B"/>
                </a:solidFill>
                <a:latin typeface="Helvetica"/>
              </a:rPr>
              <a:t>50 NM deep-sea offline PWA autonomy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12 of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VERIFIED LIVE SCREENSHOTS: BACKEND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System Demonstration: Code Architecture &amp; Pytest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ge_16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77240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0" y="1417320"/>
            <a:ext cx="313913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CODE ARCHITECTURE HIGHLIGHTS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FastAPI Async Pipeline: </a:t>
            </a:r>
            <a:r>
              <a:rPr sz="850">
                <a:solidFill>
                  <a:srgbClr val="1E293B"/>
                </a:solidFill>
                <a:latin typeface="Helvetica"/>
              </a:rPr>
              <a:t>8-Agent parallel coordinator running on Python 3.13 ASGI.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Automated Test Suite: </a:t>
            </a:r>
            <a:r>
              <a:rPr sz="850">
                <a:solidFill>
                  <a:srgbClr val="1E293B"/>
                </a:solidFill>
                <a:latin typeface="Helvetica"/>
              </a:rPr>
              <a:t>pytest executing 10 complex SIH end-to-end multi-agent test scenarios with 100% pass rate.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Live cURL Verification: </a:t>
            </a:r>
            <a:r>
              <a:rPr sz="850">
                <a:solidFill>
                  <a:srgbClr val="1E293B"/>
                </a:solidFill>
                <a:latin typeface="Helvetica"/>
              </a:rPr>
              <a:t>HTTP POST /api/chat latency 482ms with complete data provenance citations.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Zero Hallucination: </a:t>
            </a:r>
            <a:r>
              <a:rPr sz="850">
                <a:solidFill>
                  <a:srgbClr val="1E293B"/>
                </a:solidFill>
                <a:latin typeface="Helvetica"/>
              </a:rPr>
              <a:t>Risk ratings compiled strictly by Python scientific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13 of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VERIFIED LIVE SCREENSHOTS: PASSAGE &amp; WEATHER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System Demonstration: Interactive Ocean GIS &amp; Telemetry HUD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ge_17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77240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0" y="1417320"/>
            <a:ext cx="313913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10B981"/>
                </a:solidFill>
                <a:latin typeface="Helvetica"/>
              </a:defRPr>
            </a:pPr>
            <a:r>
              <a:t>GIS &amp; HUD FEATURES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Hardware-Accelerated Canvas: </a:t>
            </a:r>
            <a:r>
              <a:rPr sz="850">
                <a:solidFill>
                  <a:srgbClr val="1E293B"/>
                </a:solidFill>
                <a:latin typeface="Helvetica"/>
              </a:rPr>
              <a:t>Interactive Leaflet.js ocean canvas with bathymetry &amp; SST front heatmaps.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Dual-Route Overlays: </a:t>
            </a:r>
            <a:r>
              <a:rPr sz="850">
                <a:solidFill>
                  <a:srgbClr val="1E293B"/>
                </a:solidFill>
                <a:latin typeface="Helvetica"/>
              </a:rPr>
              <a:t>Displays Route Alpha direct coastal channel vs Route Bravo deep-water MPA bypass.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Met-Ocean Station Banner: </a:t>
            </a:r>
            <a:r>
              <a:rPr sz="850">
                <a:solidFill>
                  <a:srgbClr val="1E293B"/>
                </a:solidFill>
                <a:latin typeface="Helvetica"/>
              </a:rPr>
              <a:t>Live wave swell (1.4m), Beaufort wind (14.2 kts), SST (28.4°C), and pressure (1011.8 hPa).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12-Hour Forecast: </a:t>
            </a:r>
            <a:r>
              <a:rPr sz="850">
                <a:solidFill>
                  <a:srgbClr val="1E293B"/>
                </a:solidFill>
                <a:latin typeface="Helvetica"/>
              </a:rPr>
              <a:t>Hourly swell &amp; wave timeline for optimal departure window planning.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14 of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VERIFIED LIVE SCREENSHOTS: RISK &amp;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System Demonstration: Safety Engine &amp; Dual Passage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ge_18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77240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0" y="1417320"/>
            <a:ext cx="313913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F59E0B"/>
                </a:solidFill>
                <a:latin typeface="Helvetica"/>
              </a:defRPr>
            </a:pPr>
            <a:r>
              <a:t>RISK ENGINE &amp; PASSAGE PLAN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Quantitative Score: </a:t>
            </a:r>
            <a:r>
              <a:rPr sz="850">
                <a:solidFill>
                  <a:srgbClr val="1E293B"/>
                </a:solidFill>
                <a:latin typeface="Helvetica"/>
              </a:rPr>
              <a:t>Deterministic 32.7/100 Moderate Risk score with explicit factor weight decomposition.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Factor Breakdown: </a:t>
            </a:r>
            <a:r>
              <a:rPr sz="850">
                <a:solidFill>
                  <a:srgbClr val="1E293B"/>
                </a:solidFill>
                <a:latin typeface="Helvetica"/>
              </a:rPr>
              <a:t>Evaluates wave swell (18.2/35), wind gust (14.5/25), hazard alerts (0/25), and geofence (0/15).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Passage Plan Comparison: </a:t>
            </a:r>
            <a:r>
              <a:rPr sz="850">
                <a:solidFill>
                  <a:srgbClr val="1E293B"/>
                </a:solidFill>
                <a:latin typeface="Helvetica"/>
              </a:rPr>
              <a:t>Route Alpha (142.4 NM, 114L diesel) vs Route Bravo (164.2 NM, 131L diesel, 100% MPA clear).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Instant PDF Export: </a:t>
            </a:r>
            <a:r>
              <a:rPr sz="850">
                <a:solidFill>
                  <a:srgbClr val="1E293B"/>
                </a:solidFill>
                <a:latin typeface="Helvetica"/>
              </a:rPr>
              <a:t>Client-side downloadable official passage plan PDF.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15 of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VERIFIED LIVE SCREENSHOTS: VOICE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System Demonstration: Multilingual Voice &amp; GMDSS Distress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ge_19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77240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0" y="1417320"/>
            <a:ext cx="313913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8B5CF6"/>
                </a:solidFill>
                <a:latin typeface="Helvetica"/>
              </a:defRPr>
            </a:pPr>
            <a:r>
              <a:t>VERNACULAR VOICE &amp; DISTRESS PDF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Marathi Voice Copilot: </a:t>
            </a:r>
            <a:r>
              <a:rPr sz="850">
                <a:solidFill>
                  <a:srgbClr val="1E293B"/>
                </a:solidFill>
                <a:latin typeface="Helvetica"/>
              </a:rPr>
              <a:t>Natural dialect synthesis with 257.9° WSW dynamic compass heading and +84% Net ROI.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INCOIS PFZ Hotspots: </a:t>
            </a:r>
            <a:r>
              <a:rPr sz="850">
                <a:solidFill>
                  <a:srgbClr val="1E293B"/>
                </a:solidFill>
                <a:latin typeface="Helvetica"/>
              </a:rPr>
              <a:t>Direct compass vectors straight from harbor departure to fish feeding zones.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GMDSS Distress Record: </a:t>
            </a:r>
            <a:r>
              <a:rPr sz="850">
                <a:solidFill>
                  <a:srgbClr val="1E293B"/>
                </a:solidFill>
                <a:latin typeface="Helvetica"/>
              </a:rPr>
              <a:t>Client-side PDF dispatch generated with encrypted GPS token and vessel identifiers.</a:t>
            </a:r>
          </a:p>
          <a:p>
            <a:pPr>
              <a:spcAft>
                <a:spcPts val="5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SAR Route Dispatch: </a:t>
            </a:r>
            <a:r>
              <a:rPr sz="850">
                <a:solidFill>
                  <a:srgbClr val="1E293B"/>
                </a:solidFill>
                <a:latin typeface="Helvetica"/>
              </a:rPr>
              <a:t>Automated telephone &amp; SMS packets linked to Coast Guard MRCC.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16 of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VALIDATION METRICS &amp; PERFORMANCE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Feasibility, Test Results &amp; System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64592"/>
          <a:lstStyle/>
          <a:p>
            <a:pPr algn="ctr">
              <a:defRPr sz="2800" b="1">
                <a:solidFill>
                  <a:srgbClr val="10B981"/>
                </a:solidFill>
                <a:latin typeface="Helvetica"/>
              </a:defRPr>
            </a:pPr>
            <a:r>
              <a:t>34 / 34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950" b="1">
                <a:solidFill>
                  <a:srgbClr val="0F172A"/>
                </a:solidFill>
                <a:latin typeface="Helvetica"/>
              </a:defRPr>
            </a:pPr>
            <a:r>
              <a:t>AUTOMATED TESTS PASSING</a:t>
            </a:r>
          </a:p>
          <a:p>
            <a:pPr algn="ctr">
              <a:defRPr sz="850">
                <a:solidFill>
                  <a:srgbClr val="1E293B"/>
                </a:solidFill>
                <a:latin typeface="Helvetica"/>
              </a:defRPr>
            </a:pPr>
            <a:r>
              <a:t>100% pass rate on full regression suite covering weather, buoys, risk math &amp; voice.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6704" y="1417320"/>
            <a:ext cx="26974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64592"/>
          <a:lstStyle/>
          <a:p>
            <a:pPr algn="ctr">
              <a:defRPr sz="2800" b="1">
                <a:solidFill>
                  <a:srgbClr val="0284C7"/>
                </a:solidFill>
                <a:latin typeface="Helvetica"/>
              </a:defRPr>
            </a:pPr>
            <a:r>
              <a:t>&lt; 850 ms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950" b="1">
                <a:solidFill>
                  <a:srgbClr val="0F172A"/>
                </a:solidFill>
                <a:latin typeface="Helvetica"/>
              </a:defRPr>
            </a:pPr>
            <a:r>
              <a:t>END-TO-END QUERY LATENCY</a:t>
            </a:r>
          </a:p>
          <a:p>
            <a:pPr algn="ctr">
              <a:defRPr sz="850">
                <a:solidFill>
                  <a:srgbClr val="1E293B"/>
                </a:solidFill>
                <a:latin typeface="Helvetica"/>
              </a:defRPr>
            </a:pPr>
            <a:r>
              <a:t>Asynchronous parallel multi-agent pipeline completes in 482ms to 840ms.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417320"/>
            <a:ext cx="26974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64592"/>
          <a:lstStyle/>
          <a:p>
            <a:pPr algn="ctr">
              <a:defRPr sz="2800" b="1">
                <a:solidFill>
                  <a:srgbClr val="8B5CF6"/>
                </a:solidFill>
                <a:latin typeface="Helvetica"/>
              </a:defRPr>
            </a:pPr>
            <a:r>
              <a:t>0.0 %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950" b="1">
                <a:solidFill>
                  <a:srgbClr val="0F172A"/>
                </a:solidFill>
                <a:latin typeface="Helvetica"/>
              </a:defRPr>
            </a:pPr>
            <a:r>
              <a:t>SAFETY HALLUCINATION RATE</a:t>
            </a:r>
          </a:p>
          <a:p>
            <a:pPr algn="ctr">
              <a:defRPr sz="850">
                <a:solidFill>
                  <a:srgbClr val="1E293B"/>
                </a:solidFill>
                <a:latin typeface="Helvetica"/>
              </a:defRPr>
            </a:pPr>
            <a:r>
              <a:t>Decoupled architecture guarantees zero generative drift in maritime safety calculations.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17320"/>
            <a:ext cx="2697480" cy="20574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64592"/>
          <a:lstStyle/>
          <a:p>
            <a:pPr algn="ctr">
              <a:defRPr sz="2800" b="1">
                <a:solidFill>
                  <a:srgbClr val="F59E0B"/>
                </a:solidFill>
                <a:latin typeface="Helvetica"/>
              </a:defRPr>
            </a:pPr>
            <a:r>
              <a:t>50 NM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950" b="1">
                <a:solidFill>
                  <a:srgbClr val="0F172A"/>
                </a:solidFill>
                <a:latin typeface="Helvetica"/>
              </a:defRPr>
            </a:pPr>
            <a:r>
              <a:t>OFFSHORE OFFLINE RANGE</a:t>
            </a:r>
          </a:p>
          <a:p>
            <a:pPr algn="ctr">
              <a:defRPr sz="850">
                <a:solidFill>
                  <a:srgbClr val="1E293B"/>
                </a:solidFill>
                <a:latin typeface="Helvetica"/>
              </a:defRPr>
            </a:pPr>
            <a:r>
              <a:t>PWA Stale-While-Revalidate caching enables complete navigation with 0% cellular internet.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1094415" cy="2560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/>
          <a:lstStyle/>
          <a:p>
            <a:pPr algn="ctr">
              <a:spcAft>
                <a:spcPts val="600"/>
              </a:spcAft>
              <a:defRPr sz="1100" b="1">
                <a:solidFill>
                  <a:srgbClr val="0284C7"/>
                </a:solidFill>
                <a:latin typeface="Helvetica"/>
              </a:defRPr>
            </a:pPr>
            <a:r>
              <a:t>EMPIRICAL MULTI-HARBOR FIELD BENCHMARKS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Cochin &amp; Munambam (Arabian Sea): </a:t>
            </a:r>
            <a:r>
              <a:rPr sz="880">
                <a:solidFill>
                  <a:srgbClr val="1E293B"/>
                </a:solidFill>
                <a:latin typeface="Helvetica"/>
              </a:rPr>
              <a:t>Validated against live INCOIS wave buoys (1.4m swell, Beaufort 4, 28.4°C SST). Dual routes correctly identified MPA avoidance.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Mumbai &amp; Sassoon Dock (Maharashtra): </a:t>
            </a:r>
            <a:r>
              <a:rPr sz="880">
                <a:solidFill>
                  <a:srgbClr val="1E293B"/>
                </a:solidFill>
                <a:latin typeface="Helvetica"/>
              </a:rPr>
              <a:t>Verified with Marathi (mr-IN) voice queries and local tidal currents; accurately issued shoal surge warnings for small craft.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Chennai &amp; Kasimedu (Bay of Bengal): </a:t>
            </a:r>
            <a:r>
              <a:rPr sz="880">
                <a:solidFill>
                  <a:srgbClr val="1E293B"/>
                </a:solidFill>
                <a:latin typeface="Helvetica"/>
              </a:rPr>
              <a:t>Integrated live IMD Cyclone Warning bulletins; accurately mapped Port Danger Signals 1-11 with automatic sail prohibitions.</a:t>
            </a:r>
          </a:p>
          <a:p>
            <a:pPr>
              <a:spcAft>
                <a:spcPts val="400"/>
              </a:spcAft>
            </a:pPr>
            <a:r>
              <a:rPr sz="880" b="1">
                <a:solidFill>
                  <a:srgbClr val="1E293B"/>
                </a:solidFill>
                <a:latin typeface="Helvetica"/>
              </a:rPr>
              <a:t>• Deep-Water IMBL Simulation: </a:t>
            </a:r>
            <a:r>
              <a:rPr sz="880">
                <a:solidFill>
                  <a:srgbClr val="1E293B"/>
                </a:solidFill>
                <a:latin typeface="Helvetica"/>
              </a:rPr>
              <a:t>Ray-casting tested along Palk Strait; sounded 12 NM audio warning siren at &lt;5ms computation latency with zero false clearances.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17 of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ROADMAP &amp; EXPANSION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Future Scope &amp; National Scaling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94415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spcAft>
                <a:spcPts val="200"/>
              </a:spcAft>
              <a:defRPr sz="1050" b="1">
                <a:solidFill>
                  <a:srgbClr val="0284C7"/>
                </a:solidFill>
                <a:latin typeface="Helvetica"/>
              </a:defRPr>
            </a:pPr>
            <a:r>
              <a:t>1. ISRO NavIC Satellite IoT Integration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Direct two-way distress messaging and ocean bulletin push via satellite transponders beyond 50 NM offshore.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1094415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spcAft>
                <a:spcPts val="200"/>
              </a:spcAft>
              <a:defRPr sz="1050" b="1">
                <a:solidFill>
                  <a:srgbClr val="10B981"/>
                </a:solidFill>
                <a:latin typeface="Helvetica"/>
              </a:defRPr>
            </a:pPr>
            <a:r>
              <a:t>2. Dynamic Fish Auction Intelligence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Live pricing integration with harbor auctions (Matsyafed, CMFRI) to route vessels toward highest-value landings.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37560"/>
            <a:ext cx="11094415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spcAft>
                <a:spcPts val="200"/>
              </a:spcAft>
              <a:defRPr sz="1050" b="1">
                <a:solidFill>
                  <a:srgbClr val="F59E0B"/>
                </a:solidFill>
                <a:latin typeface="Helvetica"/>
              </a:defRPr>
            </a:pPr>
            <a:r>
              <a:t>3. On-Board NMEA-2000 Transponder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Direct serial hardware connection to boat depth sounders, sonar, and AIS for collision hazard avoidance.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11094415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spcAft>
                <a:spcPts val="200"/>
              </a:spcAft>
              <a:defRPr sz="1050" b="1">
                <a:solidFill>
                  <a:srgbClr val="8B5CF6"/>
                </a:solidFill>
                <a:latin typeface="Helvetica"/>
              </a:defRPr>
            </a:pPr>
            <a:r>
              <a:t>4. On-Device Quantized SLMs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Deploying 4-bit quantized Small Language Models (e.g. Gemma-2B) on ruggedized boat touchscreens without cloud reliance.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257800"/>
            <a:ext cx="11094415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spcAft>
                <a:spcPts val="200"/>
              </a:spcAft>
              <a:defRPr sz="1050" b="1">
                <a:solidFill>
                  <a:srgbClr val="EF4444"/>
                </a:solidFill>
                <a:latin typeface="Helvetica"/>
              </a:defRPr>
            </a:pPr>
            <a:r>
              <a:t>5. Coast Guard MRCC API Gateway</a:t>
            </a:r>
          </a:p>
          <a:p>
            <a:pPr>
              <a:defRPr sz="880">
                <a:solidFill>
                  <a:srgbClr val="1E293B"/>
                </a:solidFill>
                <a:latin typeface="Helvetica"/>
              </a:defRPr>
            </a:pPr>
            <a:r>
              <a:t>Automated cryptographic handshake dispatching distress tokens directly to Maritime Rescue Co-ordination Centres.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18 of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FINAL SYNTHESIS &amp; REVIEW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Project Conclusion &amp; Executive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94415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46304"/>
          <a:lstStyle/>
          <a:p>
            <a:pPr algn="ctr">
              <a:spcAft>
                <a:spcPts val="400"/>
              </a:spcAft>
              <a:defRPr sz="1100" b="1">
                <a:solidFill>
                  <a:srgbClr val="0284C7"/>
                </a:solidFill>
                <a:latin typeface="Helvetica"/>
              </a:defRPr>
            </a:pPr>
            <a:r>
              <a:t>✔ Bridged Space Data to Artisanal Hands</a:t>
            </a:r>
          </a:p>
          <a:p>
            <a:pPr>
              <a:defRPr sz="919">
                <a:solidFill>
                  <a:srgbClr val="1E293B"/>
                </a:solidFill>
                <a:latin typeface="Helvetica"/>
              </a:defRPr>
            </a:pPr>
            <a:r>
              <a:t>ORCA successfully turns multi-agency satellite data into clear, actionable regional voice advice for 4M+ fishermen.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11094415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46304"/>
          <a:lstStyle/>
          <a:p>
            <a:pPr algn="ctr">
              <a:spcAft>
                <a:spcPts val="400"/>
              </a:spcAft>
              <a:defRPr sz="1100" b="1">
                <a:solidFill>
                  <a:srgbClr val="10B981"/>
                </a:solidFill>
                <a:latin typeface="Helvetica"/>
              </a:defRPr>
            </a:pPr>
            <a:r>
              <a:t>✔ 100% Decoupled Safety &amp; Zero Hallucination</a:t>
            </a:r>
          </a:p>
          <a:p>
            <a:pPr>
              <a:defRPr sz="919">
                <a:solidFill>
                  <a:srgbClr val="1E293B"/>
                </a:solidFill>
                <a:latin typeface="Helvetica"/>
              </a:defRPr>
            </a:pPr>
            <a:r>
              <a:t>Combines generative AI for natural dialogue with deterministic Python scientific physics for life-critical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11094415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46304"/>
          <a:lstStyle/>
          <a:p>
            <a:pPr algn="ctr">
              <a:spcAft>
                <a:spcPts val="400"/>
              </a:spcAft>
              <a:defRPr sz="1100" b="1">
                <a:solidFill>
                  <a:srgbClr val="F59E0B"/>
                </a:solidFill>
                <a:latin typeface="Helvetica"/>
              </a:defRPr>
            </a:pPr>
            <a:r>
              <a:t>✔ Proven Tangible Economic Impact</a:t>
            </a:r>
          </a:p>
          <a:p>
            <a:pPr>
              <a:defRPr sz="919">
                <a:solidFill>
                  <a:srgbClr val="1E293B"/>
                </a:solidFill>
                <a:latin typeface="Helvetica"/>
              </a:defRPr>
            </a:pPr>
            <a:r>
              <a:t>Saves 35% on fuel (Rs. 1,800 to Rs. 2,400 daily per vessel), boosts catch by 30-50%, and safeguards human lives.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83480"/>
            <a:ext cx="11094415" cy="10789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46304"/>
          <a:lstStyle/>
          <a:p>
            <a:pPr algn="ctr">
              <a:spcAft>
                <a:spcPts val="400"/>
              </a:spcAft>
              <a:defRPr sz="1100" b="1">
                <a:solidFill>
                  <a:srgbClr val="8B5CF6"/>
                </a:solidFill>
                <a:latin typeface="Helvetica"/>
              </a:defRPr>
            </a:pPr>
            <a:r>
              <a:t>✔ Production-Ready &amp; Field Validated</a:t>
            </a:r>
          </a:p>
          <a:p>
            <a:pPr>
              <a:defRPr sz="919">
                <a:solidFill>
                  <a:srgbClr val="1E293B"/>
                </a:solidFill>
                <a:latin typeface="Helvetica"/>
              </a:defRPr>
            </a:pPr>
            <a:r>
              <a:t>With 34/34 passing test cases, sub-850ms latency, and full offline PWA resilience, ORCA is ready for coastal deployment.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19 of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"/>
            <a:ext cx="868680" cy="72766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329184"/>
            <a:ext cx="68580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 b="1">
                <a:solidFill>
                  <a:srgbClr val="0284C7"/>
                </a:solidFill>
                <a:latin typeface="Helvetica"/>
              </a:defRPr>
            </a:pPr>
            <a:r>
              <a:t>ACADEMIC CITATIONS &amp;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566928"/>
            <a:ext cx="73152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Helvetica"/>
              </a:defRPr>
            </a:pPr>
            <a:r>
              <a:t>References &amp; Academic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84048"/>
            <a:ext cx="3230575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 b="1">
                <a:solidFill>
                  <a:srgbClr val="1E293B"/>
                </a:solidFill>
                <a:latin typeface="Helvetica"/>
              </a:defRPr>
            </a:pPr>
            <a:r>
              <a:t>DIV: A | GROUP: 1 | MSE - 50 MARKS</a:t>
            </a:r>
          </a:p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Guide: Dr. Bhagwan Thorat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228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9441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28016" bIns="91440"/>
          <a:lstStyle/>
          <a:p>
            <a:pPr algn="ctr">
              <a:spcAft>
                <a:spcPts val="400"/>
              </a:spcAft>
              <a:defRPr sz="1019" b="1">
                <a:solidFill>
                  <a:srgbClr val="0284C7"/>
                </a:solidFill>
                <a:latin typeface="Helvetica"/>
              </a:defRPr>
            </a:pPr>
            <a:r>
              <a:t>KEY ACADEMIC &amp; GOVERNMENT REFERENCES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[1] INCOIS Marine Services (2024): </a:t>
            </a:r>
            <a:r>
              <a:rPr sz="850">
                <a:solidFill>
                  <a:srgbClr val="1E293B"/>
                </a:solidFill>
                <a:latin typeface="Helvetica"/>
              </a:rPr>
              <a:t>Indian National Centre for Ocean Information Services: 'Operational Ocean State Forecast and Potential Fishing Zone Advisory Services', Ministry of Earth Sciences, Tech. Rep. 2024.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[2] World Meteorological Organization (WMO): </a:t>
            </a:r>
            <a:r>
              <a:rPr sz="850">
                <a:solidFill>
                  <a:srgbClr val="1E293B"/>
                </a:solidFill>
                <a:latin typeface="Helvetica"/>
              </a:rPr>
              <a:t>WMO-No. 558: 'Manual on Marine Meteorological Services: Volume I - Global Aspects', World Meteorological Organization, Geneva, Switzerland, 2023.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[3] International Maritime Organization (IMO): </a:t>
            </a:r>
            <a:r>
              <a:rPr sz="850">
                <a:solidFill>
                  <a:srgbClr val="1E293B"/>
                </a:solidFill>
                <a:latin typeface="Helvetica"/>
              </a:rPr>
              <a:t>IMO Publishing: 'GMDSS Manual: Global Maritime Distress and Safety System', 8th ed., International Maritime Organization, London, UK, 2022.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[4] V. E. Kousky, S. Nayak, R. M. Dwivedi: </a:t>
            </a:r>
            <a:r>
              <a:rPr sz="850">
                <a:solidFill>
                  <a:srgbClr val="1E293B"/>
                </a:solidFill>
                <a:latin typeface="Helvetica"/>
              </a:rPr>
              <a:t>'Satellite Earth Observations for Marine Resource Management and Sustainable Coastal Fisheries', Remote Sensing of Environment, vol. 278, Art. no. 113098, 2023.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[5] J. Zhang, H. Wang, L. Chen: </a:t>
            </a:r>
            <a:r>
              <a:rPr sz="850">
                <a:solidFill>
                  <a:srgbClr val="1E293B"/>
                </a:solidFill>
                <a:latin typeface="Helvetica"/>
              </a:rPr>
              <a:t>'Agentic AI Architectures for Complex Physical Systems: Decomposing Reasoning with Deterministic Verifiers', IEEE Transactions on Neural Networks and Learning Systems, 2025.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[6] C. Brunner, M. Lehtola, P. Kujala: </a:t>
            </a:r>
            <a:r>
              <a:rPr sz="850">
                <a:solidFill>
                  <a:srgbClr val="1E293B"/>
                </a:solidFill>
                <a:latin typeface="Helvetica"/>
              </a:rPr>
              <a:t>'Obstacle Avoidance and Weather Routing for Maritime Vessels: A Comparison of Geodesic and Dynamic Programming Methods', Ocean Engineering, vol. 261, 2024.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[7] Indian Meteorological Department (IMD): </a:t>
            </a:r>
            <a:r>
              <a:rPr sz="850">
                <a:solidFill>
                  <a:srgbClr val="1E293B"/>
                </a:solidFill>
                <a:latin typeface="Helvetica"/>
              </a:rPr>
              <a:t>'Standard Operating Procedure: Cyclone Warning Services and Port Danger Signals in India', Ministry of Earth Sciences, New Delhi, 2024.</a:t>
            </a:r>
          </a:p>
          <a:p>
            <a:pPr>
              <a:spcAft>
                <a:spcPts val="400"/>
              </a:spcAft>
            </a:pPr>
            <a:r>
              <a:rPr sz="850" b="1">
                <a:solidFill>
                  <a:srgbClr val="1E293B"/>
                </a:solidFill>
                <a:latin typeface="Helvetica"/>
              </a:rPr>
              <a:t>• [8] Central Marine Fisheries Research Institute (CMFRI): </a:t>
            </a:r>
            <a:r>
              <a:rPr sz="850">
                <a:solidFill>
                  <a:srgbClr val="1E293B"/>
                </a:solidFill>
                <a:latin typeface="Helvetica"/>
              </a:rPr>
              <a:t>'Marine Fisheries Census and Sustainable Harvest Economics of Coastal India', ICAR-CMFRI Spl. Publ. No. 138, Kochi, 2025.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20 of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005840" cy="84255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 tIns="548640"/>
          <a:lstStyle/>
          <a:p>
            <a:pPr algn="ctr">
              <a:spcAft>
                <a:spcPts val="1200"/>
              </a:spcAft>
              <a:defRPr sz="4000" b="1">
                <a:solidFill>
                  <a:srgbClr val="0F172A"/>
                </a:solidFill>
                <a:latin typeface="Helvetica"/>
              </a:defRPr>
            </a:pPr>
            <a:r>
              <a:t>Thank You!</a:t>
            </a:r>
          </a:p>
          <a:p>
            <a:pPr algn="ctr">
              <a:spcAft>
                <a:spcPts val="800"/>
              </a:spcAft>
              <a:defRPr sz="1600" b="1">
                <a:solidFill>
                  <a:srgbClr val="0284C7"/>
                </a:solidFill>
                <a:latin typeface="Helvetica"/>
              </a:defRPr>
            </a:pPr>
            <a:r>
              <a:t>ORCA: Marine EcOsystem Reasoning with Collaborative Agents</a:t>
            </a:r>
          </a:p>
          <a:p>
            <a:pPr algn="ctr">
              <a:spcAft>
                <a:spcPts val="1400"/>
              </a:spcAft>
              <a:defRPr sz="1200" b="1">
                <a:solidFill>
                  <a:srgbClr val="1E293B"/>
                </a:solidFill>
                <a:latin typeface="Helvetica"/>
              </a:defRPr>
            </a:pPr>
            <a:r>
              <a:t>Project Guide: Dr. Bhagwan Thorat | Division: A | EDI Group No: 1</a:t>
            </a:r>
          </a:p>
          <a:p>
            <a:pPr algn="ctr">
              <a:spcAft>
                <a:spcPts val="2000"/>
              </a:spcAft>
              <a:defRPr sz="1100">
                <a:solidFill>
                  <a:srgbClr val="475569"/>
                </a:solidFill>
                <a:latin typeface="Helvetica"/>
              </a:defRPr>
            </a:pPr>
            <a:r>
              <a:t>Akash Kumar | Sanskar Bhargude | Ghansham Agaldare | Hari Birare | Krishna Aher</a:t>
            </a:r>
          </a:p>
          <a:p>
            <a:pPr algn="ctr">
              <a:defRPr sz="1300" b="1">
                <a:solidFill>
                  <a:srgbClr val="10B981"/>
                </a:solidFill>
                <a:latin typeface="Helvetica"/>
              </a:defRPr>
            </a:pPr>
            <a:r>
              <a:t>Open for Questions, System Demonstration &amp; Faculty Feedback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355080"/>
            <a:ext cx="1109441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Helvetica"/>
              </a:defRPr>
            </a:pPr>
            <a:r>
              <a:t>Vishwakarma Institute of Technology, Pune | EDI Project: ORCA (Group 1, Div A) | Guide: Dr. Bhagwan Thorat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46520"/>
            <a:ext cx="204185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50">
                <a:solidFill>
                  <a:srgbClr val="475569"/>
                </a:solidFill>
                <a:latin typeface="Helvetica"/>
              </a:defRPr>
            </a:pPr>
            <a:r>
              <a:t>Slide 21 of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