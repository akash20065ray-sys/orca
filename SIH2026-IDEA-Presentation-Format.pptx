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58368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Aft>
                <a:spcPts val="800"/>
              </a:spcAft>
            </a:pPr>
            <a:r>
              <a:rPr sz="1400" b="1">
                <a:solidFill>
                  <a:srgbClr val="102C57"/>
                </a:solidFill>
                <a:latin typeface="Calibri"/>
              </a:rPr>
              <a:t>Problem Statement ID: </a:t>
            </a:r>
            <a:r>
              <a:rPr sz="1400" b="1">
                <a:solidFill>
                  <a:srgbClr val="0369A1"/>
                </a:solidFill>
                <a:latin typeface="Calibri"/>
              </a:rPr>
              <a:t>SIH26176</a:t>
            </a:r>
            <a:endParaRPr lang="en-US" dirty="0"/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2C57"/>
                </a:solidFill>
                <a:latin typeface="Calibri"/>
              </a:rPr>
              <a:t>Problem Statement Title: </a:t>
            </a:r>
            <a:r>
              <a:rPr sz="1400" b="0">
                <a:solidFill>
                  <a:srgbClr val="1E293B"/>
                </a:solidFill>
                <a:latin typeface="Calibri"/>
              </a:rPr>
              <a:t>ORCA — Marine Ecosystem Reasoning with Collaborative Agents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2C57"/>
                </a:solidFill>
                <a:latin typeface="Calibri"/>
              </a:rPr>
              <a:t>Theme: </a:t>
            </a:r>
            <a:r>
              <a:rPr sz="1400" b="0">
                <a:solidFill>
                  <a:srgbClr val="1E293B"/>
                </a:solidFill>
                <a:latin typeface="Calibri"/>
              </a:rPr>
              <a:t>Miscellaneous (Smart Ocean Intelligence &amp; Navigation)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2C57"/>
                </a:solidFill>
                <a:latin typeface="Calibri"/>
              </a:rPr>
              <a:t>PS Category: </a:t>
            </a:r>
            <a:r>
              <a:rPr sz="1400" b="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2C57"/>
                </a:solidFill>
                <a:latin typeface="Calibri"/>
              </a:rPr>
              <a:t>Team ID: </a:t>
            </a:r>
            <a:r>
              <a:rPr sz="1400" b="0">
                <a:solidFill>
                  <a:srgbClr val="1E293B"/>
                </a:solidFill>
                <a:latin typeface="Calibri"/>
              </a:rPr>
              <a:t>CodeCatalysts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2C57"/>
                </a:solidFill>
                <a:latin typeface="Calibri"/>
              </a:rPr>
              <a:t>Team Name: </a:t>
            </a:r>
            <a:r>
              <a:rPr sz="1400" b="1">
                <a:solidFill>
                  <a:srgbClr val="0369A1"/>
                </a:solidFill>
                <a:latin typeface="Calibri"/>
              </a:rPr>
              <a:t>CodeCatalysts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148840" y="219456"/>
            <a:ext cx="7543800" cy="640080"/>
          </a:xfrm>
        </p:spPr>
        <p:txBody>
          <a:bodyPr/>
          <a:lstStyle/>
          <a:p>
            <a:pPr eaLnBrk="1" hangingPunct="1" algn="l">
              <a:defRPr sz="2300" b="1">
                <a:solidFill>
                  <a:srgbClr val="102C57"/>
                </a:solidFill>
                <a:latin typeface="Calibri"/>
              </a:defRPr>
            </a:pPr>
            <a:r>
              <a:t>ORCA: Autonomous Marine Intelligence &amp; Copilot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6916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36576" rIns="36576"/>
          <a:lstStyle/>
          <a:p>
            <a:pPr algn="ctr">
              <a:defRPr sz="1050" b="1">
                <a:solidFill>
                  <a:srgbClr val="102C57"/>
                </a:solidFill>
                <a:latin typeface="Calibri"/>
              </a:defRPr>
            </a:pPr>
            <a:r>
              <a:t>CodeCatalysts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59436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28016"/>
          <a:lstStyle/>
          <a:p>
            <a:pPr algn="ctr" marL="0" indent="0">
              <a:spcAft>
                <a:spcPts val="6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DETAILED SOLUTION &amp; CAPABILITIES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Conversational Maritime Copilot: </a:t>
            </a:r>
            <a:r>
              <a:rPr sz="900">
                <a:solidFill>
                  <a:srgbClr val="334155"/>
                </a:solidFill>
                <a:latin typeface="Calibri"/>
              </a:rPr>
              <a:t>Interact via Text &amp; Voice in 12+ Indic coastal languages (Tamil, Malayalam, Telugu, Marathi, Hindi, etc.) tailored for low-literacy seafarers.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Multi-Source Telemetry Assimilation: </a:t>
            </a:r>
            <a:r>
              <a:rPr sz="900">
                <a:solidFill>
                  <a:srgbClr val="334155"/>
                </a:solidFill>
                <a:latin typeface="Calibri"/>
              </a:rPr>
              <a:t>Live ingestion from NOAA GHRSST L4, ISRO Oceansat-3, Open-Meteo GFS/ECMWF weather, and INCOIS OMNI ocean buoys.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8 Collaborative Domain Agents: </a:t>
            </a:r>
            <a:r>
              <a:rPr sz="900">
                <a:solidFill>
                  <a:srgbClr val="334155"/>
                </a:solidFill>
                <a:latin typeface="Calibri"/>
              </a:rPr>
              <a:t>Task decomposition across Planning, Marine Data, Risk Assessment, Route Optimization, Fishery Economics, Port Signals, Voice &amp; Synthesis.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60 FPS Fluid Simulation Cockpit: </a:t>
            </a:r>
            <a:r>
              <a:rPr sz="900">
                <a:solidFill>
                  <a:srgbClr val="334155"/>
                </a:solidFill>
                <a:latin typeface="Calibri"/>
              </a:rPr>
              <a:t>Windy-style GPU canvas rendering live wind vectors, swell waves, ocean current drift, and sea surface temperature thermal fronts.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Dynamic Map Synchronization: </a:t>
            </a:r>
            <a:r>
              <a:rPr sz="900">
                <a:solidFill>
                  <a:srgbClr val="334155"/>
                </a:solidFill>
                <a:latin typeface="Calibri"/>
              </a:rPr>
              <a:t>Click any point on the Indian coast to auto-lock coordinates, evaluate local sea-state safety, and launch turn-by-turn fairway routes.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621792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28016"/>
          <a:lstStyle/>
          <a:p>
            <a:pPr algn="ctr" marL="0" indent="0">
              <a:spcAft>
                <a:spcPts val="600"/>
              </a:spcAft>
              <a:defRPr sz="1300" b="1">
                <a:solidFill>
                  <a:srgbClr val="0369A1"/>
                </a:solidFill>
                <a:latin typeface="Calibri"/>
              </a:defRPr>
            </a:pPr>
            <a:r>
              <a:t>HOW IT ADDRESSES THE PROBLEM &amp; INNOVATION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Unifies Fragmented Portals: </a:t>
            </a:r>
            <a:r>
              <a:rPr sz="900">
                <a:solidFill>
                  <a:srgbClr val="334155"/>
                </a:solidFill>
                <a:latin typeface="Calibri"/>
              </a:rPr>
              <a:t>Eliminates tedious manual searches across disparate portals (IMD, INCOIS, ISRO) into one sub-second (&lt;1.5s) advisory response.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Craft-Specific Safety Clearances: </a:t>
            </a:r>
            <a:r>
              <a:rPr sz="900">
                <a:solidFill>
                  <a:srgbClr val="334155"/>
                </a:solidFill>
                <a:latin typeface="Calibri"/>
              </a:rPr>
              <a:t>Differentiates thresholds: Artisanal motorized canoes (OBM ≤15 NM, wave ≤1.8m) vs Mechanized trawlers (≤120 NM, wave ≤3.5m).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Deterministic Safety Guardrails: </a:t>
            </a:r>
            <a:r>
              <a:rPr sz="900">
                <a:solidFill>
                  <a:srgbClr val="334155"/>
                </a:solidFill>
                <a:latin typeface="Calibri"/>
              </a:rPr>
              <a:t>Pure mathematical rule-based risk evaluation (0–100) ensures ZERO AI hallucinations for life-critical nautical decisions.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COLREGS Rule 10 Geodesic Routing: </a:t>
            </a:r>
            <a:r>
              <a:rPr sz="900">
                <a:solidFill>
                  <a:srgbClr val="334155"/>
                </a:solidFill>
                <a:latin typeface="Calibri"/>
              </a:rPr>
              <a:t>Turn-by-turn maritime fairway corridors (Cochin ➔ Colombo / Gulf of Mannar) with 0% land crossing guarantee.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Automated GMDSS Distress Terminal: </a:t>
            </a:r>
            <a:r>
              <a:rPr sz="900">
                <a:solidFill>
                  <a:srgbClr val="334155"/>
                </a:solidFill>
                <a:latin typeface="Calibri"/>
              </a:rPr>
              <a:t>One-click SOS emergency broadcast with SHA-256 dispatch token routed directly to nearest Indian Coast Guard MRCC.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9436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28016"/>
          <a:lstStyle/>
          <a:p>
            <a:pPr algn="ctr" marL="0" indent="0">
              <a:spcAft>
                <a:spcPts val="7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DETAILED SOLUTION &amp; CAPABILITIES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Conversational Marine Copilot: </a:t>
            </a:r>
            <a:r>
              <a:rPr sz="910">
                <a:solidFill>
                  <a:srgbClr val="334155"/>
                </a:solidFill>
                <a:latin typeface="Calibri"/>
              </a:rPr>
              <a:t>Interact via Text &amp; Voice in 12+ Indic coastal languages (Tamil, Malayalam, Telugu, Marathi, Hindi, etc.) tailored for low-literacy seafarers.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Multi-Source Telemetry Assimilation: </a:t>
            </a:r>
            <a:r>
              <a:rPr sz="910">
                <a:solidFill>
                  <a:srgbClr val="334155"/>
                </a:solidFill>
                <a:latin typeface="Calibri"/>
              </a:rPr>
              <a:t>Live ingestion from NOAA GHRSST L4, ISRO Oceansat-3, Open-Meteo GFS/ECMWF weather, and INCOIS OMNI ocean buoys.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8 Collaborative Domain Agents: </a:t>
            </a:r>
            <a:r>
              <a:rPr sz="910">
                <a:solidFill>
                  <a:srgbClr val="334155"/>
                </a:solidFill>
                <a:latin typeface="Calibri"/>
              </a:rPr>
              <a:t>Task decomposition across Planning, Marine Data, Risk Assessment, Route Optimization, Fishery Economics, Port Signals, Voice &amp; Synthesis.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60 FPS Fluid Simulation Cockpit: </a:t>
            </a:r>
            <a:r>
              <a:rPr sz="910">
                <a:solidFill>
                  <a:srgbClr val="334155"/>
                </a:solidFill>
                <a:latin typeface="Calibri"/>
              </a:rPr>
              <a:t>Windy-style GPU canvas rendering live wind vectors, swell waves, ocean current drift, and sea surface temperature thermal fronts.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Dynamic Map Synchronization: </a:t>
            </a:r>
            <a:r>
              <a:rPr sz="910">
                <a:solidFill>
                  <a:srgbClr val="334155"/>
                </a:solidFill>
                <a:latin typeface="Calibri"/>
              </a:rPr>
              <a:t>Click any point on the Indian coast to auto-lock coordinates, evaluate local sea-state safety, and launch turn-by-turn fairway routes.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21792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28016"/>
          <a:lstStyle/>
          <a:p>
            <a:pPr algn="ctr" marL="0" indent="0">
              <a:spcAft>
                <a:spcPts val="700"/>
              </a:spcAft>
              <a:defRPr sz="1300" b="1">
                <a:solidFill>
                  <a:srgbClr val="0369A1"/>
                </a:solidFill>
                <a:latin typeface="Calibri"/>
              </a:defRPr>
            </a:pPr>
            <a:r>
              <a:t>HOW IT ADDRESSES THE PROBLEM &amp; INNOVATION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Unifies Fragmented Portals: </a:t>
            </a:r>
            <a:r>
              <a:rPr sz="910">
                <a:solidFill>
                  <a:srgbClr val="334155"/>
                </a:solidFill>
                <a:latin typeface="Calibri"/>
              </a:rPr>
              <a:t>Eliminates tedious manual searches across disparate portals (IMD, INCOIS, ISRO) into one sub-second (&lt;1.5s) advisory response.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Craft-Specific Safety Clearances: </a:t>
            </a:r>
            <a:r>
              <a:rPr sz="910">
                <a:solidFill>
                  <a:srgbClr val="334155"/>
                </a:solidFill>
                <a:latin typeface="Calibri"/>
              </a:rPr>
              <a:t>Differentiates thresholds: Artisanal motorized canoes (OBM ≤15 NM, wave ≤1.8m) vs Mechanized trawlers (≤120 NM, wave ≤3.5m).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Deterministic Safety Guardrails: </a:t>
            </a:r>
            <a:r>
              <a:rPr sz="910">
                <a:solidFill>
                  <a:srgbClr val="334155"/>
                </a:solidFill>
                <a:latin typeface="Calibri"/>
              </a:rPr>
              <a:t>Pure mathematical rule-based risk evaluation (0–100) ensures ZERO AI hallucinations for life-critical nautical decisions.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COLREGS Rule 10 Geodesic Routing: </a:t>
            </a:r>
            <a:r>
              <a:rPr sz="910">
                <a:solidFill>
                  <a:srgbClr val="334155"/>
                </a:solidFill>
                <a:latin typeface="Calibri"/>
              </a:rPr>
              <a:t>Turn-by-turn maritime fairway corridors (Cochin ➔ Colombo / Gulf of Mannar) with 0% land crossing guarantee.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Automated GMDSS Distress Terminal: </a:t>
            </a:r>
            <a:r>
              <a:rPr sz="910">
                <a:solidFill>
                  <a:srgbClr val="334155"/>
                </a:solidFill>
                <a:latin typeface="Calibri"/>
              </a:rPr>
              <a:t>One-click SOS emergency broadcast with SHA-256 dispatch token routed directly to nearest Indian Coast Guard MRCC.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48840" y="219456"/>
            <a:ext cx="7543800" cy="640080"/>
          </a:xfrm>
        </p:spPr>
        <p:txBody>
          <a:bodyPr/>
          <a:lstStyle/>
          <a:p>
            <a:pPr eaLnBrk="1" hangingPunct="1">
              <a:defRPr sz="2300" b="1">
                <a:solidFill>
                  <a:srgbClr val="102C57"/>
                </a:solidFill>
                <a:latin typeface="Calibri"/>
              </a:defRPr>
            </a:pPr>
            <a:r>
              <a:t>TECHNICAL APPROACH &amp; 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6916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36576" rIns="36576"/>
          <a:lstStyle/>
          <a:p>
            <a:pPr algn="ctr">
              <a:defRPr sz="1050" b="1">
                <a:solidFill>
                  <a:srgbClr val="102C57"/>
                </a:solidFill>
                <a:latin typeface="Calibri"/>
              </a:defRPr>
            </a:pPr>
            <a:r>
              <a:t>CodeCatalysts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9436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28016"/>
          <a:lstStyle/>
          <a:p>
            <a:pPr algn="ctr" marL="0" indent="0">
              <a:spcAft>
                <a:spcPts val="6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TECHNOLOGIES &amp; ARCHITECTURAL STACK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Frontend &amp; Presentation Layer: </a:t>
            </a:r>
            <a:r>
              <a:rPr sz="900">
                <a:solidFill>
                  <a:srgbClr val="334155"/>
                </a:solidFill>
                <a:latin typeface="Calibri"/>
              </a:rPr>
              <a:t>React 19, Vite, Leaflet.js, HTML5 60 FPS Canvas particle engine, Vanilla CSS design tokens, PWA offline service workers.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Backend &amp; Orchestration: </a:t>
            </a:r>
            <a:r>
              <a:rPr sz="900">
                <a:solidFill>
                  <a:srgbClr val="334155"/>
                </a:solidFill>
                <a:latin typeface="Calibri"/>
              </a:rPr>
              <a:t>Python 3.13, FastAPI (asynchronous non-blocking), Pydantic v2 schemas, multi-LLM orchestrator (Claude 3.5, Sarvam AI, GPT-4o, Gemini).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Database &amp; Spatial Engine: </a:t>
            </a:r>
            <a:r>
              <a:rPr sz="900">
                <a:solidFill>
                  <a:srgbClr val="334155"/>
                </a:solidFill>
                <a:latin typeface="Calibri"/>
              </a:rPr>
              <a:t>Supabase Cloud PostGIS + Embedded Ray-Casting &amp; Haversine spatial index (&lt;5ms latency for IMBL geofencing &amp; port lookups).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Telemetry Feeds &amp; Connectors: </a:t>
            </a:r>
            <a:r>
              <a:rPr sz="900">
                <a:solidFill>
                  <a:srgbClr val="334155"/>
                </a:solidFill>
                <a:latin typeface="Calibri"/>
              </a:rPr>
              <a:t>NOAA CoastWatch ERDDAP (GHRSST L4 OSTIA 0.05°), ISRO MOSDAC (Oceansat-3 OCM), Open-Meteo GFS/ECMWF, INCOIS OMNI buoys.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Speech &amp; Language Bridge: </a:t>
            </a:r>
            <a:r>
              <a:rPr sz="900">
                <a:solidFill>
                  <a:srgbClr val="334155"/>
                </a:solidFill>
                <a:latin typeface="Calibri"/>
              </a:rPr>
              <a:t>Web Speech API + Sarvam AI Indic STT/TTS for 12+ coastal vernacular dialects.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21792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28016"/>
          <a:lstStyle/>
          <a:p>
            <a:pPr algn="ctr" marL="0" indent="0">
              <a:spcAft>
                <a:spcPts val="600"/>
              </a:spcAft>
              <a:defRPr sz="1300" b="1">
                <a:solidFill>
                  <a:srgbClr val="0369A1"/>
                </a:solidFill>
                <a:latin typeface="Calibri"/>
              </a:defRPr>
            </a:pPr>
            <a:r>
              <a:t>METHODOLOGY &amp; 7-STAGE IMPLEMENTATION FLOW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Step 1 — Multimodal Ingestion: </a:t>
            </a:r>
            <a:r>
              <a:rPr sz="880">
                <a:solidFill>
                  <a:srgbClr val="334155"/>
                </a:solidFill>
                <a:latin typeface="Calibri"/>
              </a:rPr>
              <a:t>Captures user query via text/speech + hardware GPS or map pin coordinates.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Step 2 — Planning &amp; Intent Routing: </a:t>
            </a:r>
            <a:r>
              <a:rPr sz="880">
                <a:solidFill>
                  <a:srgbClr val="334155"/>
                </a:solidFill>
                <a:latin typeface="Calibri"/>
              </a:rPr>
              <a:t>Decomposes intent without hallucination; selects domain specialized agents.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Step 3 — Multi-Agent Asynchronous Execution: </a:t>
            </a:r>
            <a:r>
              <a:rPr sz="880">
                <a:solidFill>
                  <a:srgbClr val="334155"/>
                </a:solidFill>
                <a:latin typeface="Calibri"/>
              </a:rPr>
              <a:t>Ocean, Weather, Fishery, and Safety agents concurrently fetch live datasets.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Step 4 — Data Validation &amp; Freshness Check: </a:t>
            </a:r>
            <a:r>
              <a:rPr sz="880">
                <a:solidFill>
                  <a:srgbClr val="334155"/>
                </a:solidFill>
                <a:latin typeface="Calibri"/>
              </a:rPr>
              <a:t>Enforces strict telemetry freshness (&lt;12h threshold; stale penalties applied).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Step 5 — Deterministic Risk &amp; Route Optimization: </a:t>
            </a:r>
            <a:r>
              <a:rPr sz="880">
                <a:solidFill>
                  <a:srgbClr val="334155"/>
                </a:solidFill>
                <a:latin typeface="Calibri"/>
              </a:rPr>
              <a:t>Calculates 0–100 multi-factor risk score + Cape Comorin geodesic fairway routing.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Step 6 — Fishery Economics &amp; Front Detection: </a:t>
            </a:r>
            <a:r>
              <a:rPr sz="880">
                <a:solidFill>
                  <a:srgbClr val="334155"/>
                </a:solidFill>
                <a:latin typeface="Calibri"/>
              </a:rPr>
              <a:t>INCOIS SST thermal gradient edge detection (ΔT/km ≥ 0.5°C/km) + CMFRI auction yields.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Step 7 — Multi-Modal Synthesized Delivery: </a:t>
            </a:r>
            <a:r>
              <a:rPr sz="880">
                <a:solidFill>
                  <a:srgbClr val="334155"/>
                </a:solidFill>
                <a:latin typeface="Calibri"/>
              </a:rPr>
              <a:t>Voice response + 60 FPS Windy canvas + GMDSS SOS beacon + MoES PDF bulletin.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28016"/>
          <a:lstStyle/>
          <a:p>
            <a:pPr algn="ctr" marL="0" indent="0">
              <a:spcAft>
                <a:spcPts val="7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TECHNOLOGIES &amp; ARCHITECTURAL STACK</a:t>
            </a:r>
          </a:p>
          <a:p>
            <a:pPr>
              <a:spcAft>
                <a:spcPts val="6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Frontend &amp; Presentation Layer: </a:t>
            </a:r>
            <a:r>
              <a:rPr sz="910">
                <a:solidFill>
                  <a:srgbClr val="334155"/>
                </a:solidFill>
                <a:latin typeface="Calibri"/>
              </a:rPr>
              <a:t>React 19, Vite, Leaflet.js, HTML5 60 FPS Canvas particle engine, Vanilla CSS design tokens, PWA offline service workers.</a:t>
            </a:r>
          </a:p>
          <a:p>
            <a:pPr>
              <a:spcAft>
                <a:spcPts val="6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Backend &amp; Orchestration: </a:t>
            </a:r>
            <a:r>
              <a:rPr sz="910">
                <a:solidFill>
                  <a:srgbClr val="334155"/>
                </a:solidFill>
                <a:latin typeface="Calibri"/>
              </a:rPr>
              <a:t>Python 3.13, FastAPI (asynchronous non-blocking), Pydantic v2 schemas, multi-LLM orchestrator (Claude 3.5, Sarvam AI, GPT-4o, Gemini).</a:t>
            </a:r>
          </a:p>
          <a:p>
            <a:pPr>
              <a:spcAft>
                <a:spcPts val="6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Database &amp; Spatial Engine: </a:t>
            </a:r>
            <a:r>
              <a:rPr sz="910">
                <a:solidFill>
                  <a:srgbClr val="334155"/>
                </a:solidFill>
                <a:latin typeface="Calibri"/>
              </a:rPr>
              <a:t>Supabase Cloud PostGIS + Embedded Ray-Casting &amp; Haversine spatial index (&lt;5ms latency for IMBL geofencing &amp; port lookups).</a:t>
            </a:r>
          </a:p>
          <a:p>
            <a:pPr>
              <a:spcAft>
                <a:spcPts val="6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Telemetry Feeds &amp; Connectors: </a:t>
            </a:r>
            <a:r>
              <a:rPr sz="910">
                <a:solidFill>
                  <a:srgbClr val="334155"/>
                </a:solidFill>
                <a:latin typeface="Calibri"/>
              </a:rPr>
              <a:t>NOAA CoastWatch ERDDAP (GHRSST L4 OSTIA 0.05°), ISRO MOSDAC (Oceansat-3 OCM), Open-Meteo GFS/ECMWF, INCOIS OMNI buoys.</a:t>
            </a:r>
          </a:p>
          <a:p>
            <a:pPr>
              <a:spcAft>
                <a:spcPts val="6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Speech &amp; Language Bridge: </a:t>
            </a:r>
            <a:r>
              <a:rPr sz="910">
                <a:solidFill>
                  <a:srgbClr val="334155"/>
                </a:solidFill>
                <a:latin typeface="Calibri"/>
              </a:rPr>
              <a:t>Web Speech API + Sarvam AI Indic STT/TTS for 12+ coastal vernacular dialects.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1792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28016"/>
          <a:lstStyle/>
          <a:p>
            <a:pPr algn="ctr" marL="0" indent="0">
              <a:spcAft>
                <a:spcPts val="700"/>
              </a:spcAft>
              <a:defRPr sz="1300" b="1">
                <a:solidFill>
                  <a:srgbClr val="0369A1"/>
                </a:solidFill>
                <a:latin typeface="Calibri"/>
              </a:defRPr>
            </a:pPr>
            <a:r>
              <a:t>METHODOLOGY &amp; 7-STAGE IMPLEMENTATION FLOW</a:t>
            </a:r>
          </a:p>
          <a:p>
            <a:pPr>
              <a:spcAft>
                <a:spcPts val="350"/>
              </a:spcAft>
            </a:pPr>
            <a:r>
              <a:rPr sz="930" b="1">
                <a:solidFill>
                  <a:srgbClr val="102C57"/>
                </a:solidFill>
                <a:latin typeface="Calibri"/>
              </a:rPr>
              <a:t>Step 1 — Multimodal Ingestion: </a:t>
            </a:r>
            <a:r>
              <a:rPr sz="890">
                <a:solidFill>
                  <a:srgbClr val="334155"/>
                </a:solidFill>
                <a:latin typeface="Calibri"/>
              </a:rPr>
              <a:t>Captures user query via text/speech + hardware GPS or map pin coordinates.</a:t>
            </a:r>
          </a:p>
          <a:p>
            <a:pPr>
              <a:spcAft>
                <a:spcPts val="350"/>
              </a:spcAft>
            </a:pPr>
            <a:r>
              <a:rPr sz="930" b="1">
                <a:solidFill>
                  <a:srgbClr val="102C57"/>
                </a:solidFill>
                <a:latin typeface="Calibri"/>
              </a:rPr>
              <a:t>Step 2 — Planning &amp; Intent Routing: </a:t>
            </a:r>
            <a:r>
              <a:rPr sz="890">
                <a:solidFill>
                  <a:srgbClr val="334155"/>
                </a:solidFill>
                <a:latin typeface="Calibri"/>
              </a:rPr>
              <a:t>Decomposes intent without hallucination; selects domain specialized agents.</a:t>
            </a:r>
          </a:p>
          <a:p>
            <a:pPr>
              <a:spcAft>
                <a:spcPts val="350"/>
              </a:spcAft>
            </a:pPr>
            <a:r>
              <a:rPr sz="930" b="1">
                <a:solidFill>
                  <a:srgbClr val="102C57"/>
                </a:solidFill>
                <a:latin typeface="Calibri"/>
              </a:rPr>
              <a:t>Step 3 — Multi-Agent Asynchronous Execution: </a:t>
            </a:r>
            <a:r>
              <a:rPr sz="890">
                <a:solidFill>
                  <a:srgbClr val="334155"/>
                </a:solidFill>
                <a:latin typeface="Calibri"/>
              </a:rPr>
              <a:t>Ocean, Weather, Fishery, and Safety agents concurrently fetch live datasets.</a:t>
            </a:r>
          </a:p>
          <a:p>
            <a:pPr>
              <a:spcAft>
                <a:spcPts val="350"/>
              </a:spcAft>
            </a:pPr>
            <a:r>
              <a:rPr sz="930" b="1">
                <a:solidFill>
                  <a:srgbClr val="102C57"/>
                </a:solidFill>
                <a:latin typeface="Calibri"/>
              </a:rPr>
              <a:t>Step 4 — Data Validation &amp; Freshness Check: </a:t>
            </a:r>
            <a:r>
              <a:rPr sz="890">
                <a:solidFill>
                  <a:srgbClr val="334155"/>
                </a:solidFill>
                <a:latin typeface="Calibri"/>
              </a:rPr>
              <a:t>Enforces strict telemetry freshness (&lt;12h threshold; stale penalties applied).</a:t>
            </a:r>
          </a:p>
          <a:p>
            <a:pPr>
              <a:spcAft>
                <a:spcPts val="350"/>
              </a:spcAft>
            </a:pPr>
            <a:r>
              <a:rPr sz="930" b="1">
                <a:solidFill>
                  <a:srgbClr val="102C57"/>
                </a:solidFill>
                <a:latin typeface="Calibri"/>
              </a:rPr>
              <a:t>Step 5 — Deterministic Risk &amp; Route Optimization: </a:t>
            </a:r>
            <a:r>
              <a:rPr sz="890">
                <a:solidFill>
                  <a:srgbClr val="334155"/>
                </a:solidFill>
                <a:latin typeface="Calibri"/>
              </a:rPr>
              <a:t>Calculates 0–100 multi-factor risk score + Cape Comorin geodesic fairway routing.</a:t>
            </a:r>
          </a:p>
          <a:p>
            <a:pPr>
              <a:spcAft>
                <a:spcPts val="350"/>
              </a:spcAft>
            </a:pPr>
            <a:r>
              <a:rPr sz="930" b="1">
                <a:solidFill>
                  <a:srgbClr val="102C57"/>
                </a:solidFill>
                <a:latin typeface="Calibri"/>
              </a:rPr>
              <a:t>Step 6 — Fishery Economics &amp; Front Detection: </a:t>
            </a:r>
            <a:r>
              <a:rPr sz="890">
                <a:solidFill>
                  <a:srgbClr val="334155"/>
                </a:solidFill>
                <a:latin typeface="Calibri"/>
              </a:rPr>
              <a:t>INCOIS SST thermal gradient edge detection (ΔT/km ≥ 0.5°C/km) + CMFRI auction yields.</a:t>
            </a:r>
          </a:p>
          <a:p>
            <a:pPr>
              <a:spcAft>
                <a:spcPts val="350"/>
              </a:spcAft>
            </a:pPr>
            <a:r>
              <a:rPr sz="930" b="1">
                <a:solidFill>
                  <a:srgbClr val="102C57"/>
                </a:solidFill>
                <a:latin typeface="Calibri"/>
              </a:rPr>
              <a:t>Step 7 — Multi-Modal Synthesized Delivery: </a:t>
            </a:r>
            <a:r>
              <a:rPr sz="890">
                <a:solidFill>
                  <a:srgbClr val="334155"/>
                </a:solidFill>
                <a:latin typeface="Calibri"/>
              </a:rPr>
              <a:t>Voice response + 60 FPS Windy canvas + GMDSS SOS beacon + MoES PDF bulletin.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48840" y="219456"/>
            <a:ext cx="7543800" cy="640080"/>
          </a:xfrm>
        </p:spPr>
        <p:txBody>
          <a:bodyPr/>
          <a:lstStyle/>
          <a:p>
            <a:pPr eaLnBrk="1" hangingPunct="1">
              <a:defRPr sz="2300" b="1">
                <a:solidFill>
                  <a:srgbClr val="102C57"/>
                </a:solidFill>
                <a:latin typeface="Calibri"/>
              </a:defRPr>
            </a:pPr>
            <a:r>
              <a:t>FEASIBILITY, VIABILITY &amp; RISK MITIGATION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6916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36576" rIns="36576"/>
          <a:lstStyle/>
          <a:p>
            <a:pPr algn="ctr">
              <a:defRPr sz="1050" b="1">
                <a:solidFill>
                  <a:srgbClr val="102C57"/>
                </a:solidFill>
                <a:latin typeface="Calibri"/>
              </a:defRPr>
            </a:pPr>
            <a:r>
              <a:t>CodeCatalysts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9436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28016"/>
          <a:lstStyle/>
          <a:p>
            <a:pPr algn="ctr" marL="0" indent="0">
              <a:spcAft>
                <a:spcPts val="600"/>
              </a:spcAft>
              <a:defRPr sz="1300" b="1">
                <a:solidFill>
                  <a:srgbClr val="059669"/>
                </a:solidFill>
                <a:latin typeface="Calibri"/>
              </a:defRPr>
            </a:pPr>
            <a:r>
              <a:t>FEASIBILITY &amp; COMMERCIAL VIABILITY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Operational Feasibility: </a:t>
            </a:r>
            <a:r>
              <a:rPr sz="900">
                <a:solidFill>
                  <a:srgbClr val="334155"/>
                </a:solidFill>
                <a:latin typeface="Calibri"/>
              </a:rPr>
              <a:t>Integrates with live operational APIs (Open-Meteo, NOAA ERDDAP, ISRO, INCOIS); requires zero expensive proprietary hardware on boats.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Technical Robustness: </a:t>
            </a:r>
            <a:r>
              <a:rPr sz="900">
                <a:solidFill>
                  <a:srgbClr val="334155"/>
                </a:solidFill>
                <a:latin typeface="Calibri"/>
              </a:rPr>
              <a:t>Lightweight, cloud-native FastAPI backend delivering &lt;5ms spatial lookups and &lt;1.2s total end-to-end response times.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100% Validated Testing: </a:t>
            </a:r>
            <a:r>
              <a:rPr sz="900">
                <a:solidFill>
                  <a:srgbClr val="334155"/>
                </a:solidFill>
                <a:latin typeface="Calibri"/>
              </a:rPr>
              <a:t>Fully validated production codebase with 34/34 passing automated tests across intent routing, risk calculations, and multi-turn chat.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Commercial Viability: </a:t>
            </a:r>
            <a:r>
              <a:rPr sz="900">
                <a:solidFill>
                  <a:srgbClr val="334155"/>
                </a:solidFill>
                <a:latin typeface="Calibri"/>
              </a:rPr>
              <a:t>Dual-use economic model: Free safety copilot for artisanal fisherfolk; premium enterprise fleet tracking for commercial trawlers &amp; ports.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National Scalability: </a:t>
            </a:r>
            <a:r>
              <a:rPr sz="900">
                <a:solidFill>
                  <a:srgbClr val="334155"/>
                </a:solidFill>
                <a:latin typeface="Calibri"/>
              </a:rPr>
              <a:t>Architecture ready for immediate deployment across India's 72 coastal districts and 9 maritime states with zero re-engineering.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21792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28016"/>
          <a:lstStyle/>
          <a:p>
            <a:pPr algn="ctr" marL="0" indent="0">
              <a:spcAft>
                <a:spcPts val="600"/>
              </a:spcAft>
              <a:defRPr sz="1300" b="1">
                <a:solidFill>
                  <a:srgbClr val="D97706"/>
                </a:solidFill>
                <a:latin typeface="Calibri"/>
              </a:defRPr>
            </a:pPr>
            <a:r>
              <a:t>POTENTIAL CHALLENGES &amp; MITIGATION STRATEGIES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02C57"/>
                </a:solidFill>
                <a:latin typeface="Calibri"/>
              </a:rPr>
              <a:t>1. Diverse Data Formats: </a:t>
            </a:r>
            <a:r>
              <a:rPr sz="850">
                <a:solidFill>
                  <a:srgbClr val="0369A1"/>
                </a:solidFill>
                <a:latin typeface="Calibri"/>
              </a:rPr>
              <a:t>➔ Unified Pydantic v2 ingestion normalizes GRIB2, NetCDF &amp; GeoJSON.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02C57"/>
                </a:solidFill>
                <a:latin typeface="Calibri"/>
              </a:rPr>
              <a:t>2. Telemetry Lags &amp; Stale Feeds: </a:t>
            </a:r>
            <a:r>
              <a:rPr sz="850">
                <a:solidFill>
                  <a:srgbClr val="0369A1"/>
                </a:solidFill>
                <a:latin typeface="Calibri"/>
              </a:rPr>
              <a:t>➔ Freshness ledger applies +8 risk penalty if telemetry age &gt; 12 hours.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02C57"/>
                </a:solidFill>
                <a:latin typeface="Calibri"/>
              </a:rPr>
              <a:t>3. Inconsistent Multi-Source Data: </a:t>
            </a:r>
            <a:r>
              <a:rPr sz="850">
                <a:solidFill>
                  <a:srgbClr val="0369A1"/>
                </a:solidFill>
                <a:latin typeface="Calibri"/>
              </a:rPr>
              <a:t>➔ In-situ ocean buoys cross-validate satellite grids with reliability weights.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02C57"/>
                </a:solidFill>
                <a:latin typeface="Calibri"/>
              </a:rPr>
              <a:t>4. LLM Hallucination in Safety: </a:t>
            </a:r>
            <a:r>
              <a:rPr sz="850">
                <a:solidFill>
                  <a:srgbClr val="0369A1"/>
                </a:solidFill>
                <a:latin typeface="Calibri"/>
              </a:rPr>
              <a:t>➔ Pure deterministic math engine calculates safety; LLM used only for NLP.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02C57"/>
                </a:solidFill>
                <a:latin typeface="Calibri"/>
              </a:rPr>
              <a:t>5. Heavy Offshore Spatial Queries: </a:t>
            </a:r>
            <a:r>
              <a:rPr sz="850">
                <a:solidFill>
                  <a:srgbClr val="0369A1"/>
                </a:solidFill>
                <a:latin typeface="Calibri"/>
              </a:rPr>
              <a:t>➔ Embedded Ray-Casting &amp; Haversine index achieves &lt;5ms query execution.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02C57"/>
                </a:solidFill>
                <a:latin typeface="Calibri"/>
              </a:rPr>
              <a:t>6. Dangerous Land Crossing Routes: </a:t>
            </a:r>
            <a:r>
              <a:rPr sz="850">
                <a:solidFill>
                  <a:srgbClr val="0369A1"/>
                </a:solidFill>
                <a:latin typeface="Calibri"/>
              </a:rPr>
              <a:t>➔ Geodesic Cape Comorin fairway corridors guarantee 0% land overlap.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02C57"/>
                </a:solidFill>
                <a:latin typeface="Calibri"/>
              </a:rPr>
              <a:t>7. Intermittent Offshore 4G/5G: </a:t>
            </a:r>
            <a:r>
              <a:rPr sz="850">
                <a:solidFill>
                  <a:srgbClr val="0369A1"/>
                </a:solidFill>
                <a:latin typeface="Calibri"/>
              </a:rPr>
              <a:t>➔ PWA Offline Service Worker caches coastal tiles and offline fallback alerts.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02C57"/>
                </a:solidFill>
                <a:latin typeface="Calibri"/>
              </a:rPr>
              <a:t>8. GMDSS Distress Security: </a:t>
            </a:r>
            <a:r>
              <a:rPr sz="850">
                <a:solidFill>
                  <a:srgbClr val="0369A1"/>
                </a:solidFill>
                <a:latin typeface="Calibri"/>
              </a:rPr>
              <a:t>➔ Stateless tokens &amp; encrypted SHA-256 Coast Guard MRCC verification.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28016"/>
          <a:lstStyle/>
          <a:p>
            <a:pPr algn="ctr" marL="0" indent="0">
              <a:spcAft>
                <a:spcPts val="700"/>
              </a:spcAft>
              <a:defRPr sz="1300" b="1">
                <a:solidFill>
                  <a:srgbClr val="059669"/>
                </a:solidFill>
                <a:latin typeface="Calibri"/>
              </a:defRPr>
            </a:pPr>
            <a:r>
              <a:t>FEASIBILITY &amp; COMMERCIAL VIABILITY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Operational Feasibility: </a:t>
            </a:r>
            <a:r>
              <a:rPr sz="910">
                <a:solidFill>
                  <a:srgbClr val="334155"/>
                </a:solidFill>
                <a:latin typeface="Calibri"/>
              </a:rPr>
              <a:t>Integrates with live operational APIs (Open-Meteo, NOAA ERDDAP, ISRO, INCOIS); requires zero expensive proprietary hardware on boats.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Technical Robustness: </a:t>
            </a:r>
            <a:r>
              <a:rPr sz="910">
                <a:solidFill>
                  <a:srgbClr val="334155"/>
                </a:solidFill>
                <a:latin typeface="Calibri"/>
              </a:rPr>
              <a:t>Lightweight, cloud-native FastAPI backend delivering &lt;5ms spatial lookups and &lt;1.2s total end-to-end response times.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100% Validated Testing: </a:t>
            </a:r>
            <a:r>
              <a:rPr sz="910">
                <a:solidFill>
                  <a:srgbClr val="334155"/>
                </a:solidFill>
                <a:latin typeface="Calibri"/>
              </a:rPr>
              <a:t>Fully validated production codebase with 34/34 passing automated tests across intent routing, risk calculations, and multi-turn chat.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Commercial Viability: </a:t>
            </a:r>
            <a:r>
              <a:rPr sz="910">
                <a:solidFill>
                  <a:srgbClr val="334155"/>
                </a:solidFill>
                <a:latin typeface="Calibri"/>
              </a:rPr>
              <a:t>Dual-use economic model: Free safety copilot for artisanal fisherfolk; premium enterprise fleet tracking for commercial trawlers &amp; ports.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National Scalability: </a:t>
            </a:r>
            <a:r>
              <a:rPr sz="910">
                <a:solidFill>
                  <a:srgbClr val="334155"/>
                </a:solidFill>
                <a:latin typeface="Calibri"/>
              </a:rPr>
              <a:t>Architecture ready for immediate deployment across India's 72 coastal districts and 9 maritime states with zero re-engineering.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1792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28016"/>
          <a:lstStyle/>
          <a:p>
            <a:pPr algn="ctr" marL="0" indent="0">
              <a:spcAft>
                <a:spcPts val="700"/>
              </a:spcAft>
              <a:defRPr sz="1300" b="1">
                <a:solidFill>
                  <a:srgbClr val="D97706"/>
                </a:solidFill>
                <a:latin typeface="Calibri"/>
              </a:defRPr>
            </a:pPr>
            <a:r>
              <a:t>POTENTIAL CHALLENGES &amp; MITIGATION STRATEGIES</a:t>
            </a:r>
          </a:p>
          <a:p>
            <a:pPr>
              <a:spcAft>
                <a:spcPts val="280"/>
              </a:spcAft>
            </a:pPr>
            <a:r>
              <a:rPr sz="890" b="1">
                <a:solidFill>
                  <a:srgbClr val="102C57"/>
                </a:solidFill>
                <a:latin typeface="Calibri"/>
              </a:rPr>
              <a:t>1. Diverse Data Formats: </a:t>
            </a:r>
            <a:r>
              <a:rPr sz="860">
                <a:solidFill>
                  <a:srgbClr val="0369A1"/>
                </a:solidFill>
                <a:latin typeface="Calibri"/>
              </a:rPr>
              <a:t>➔ Unified Pydantic v2 ingestion normalizes GRIB2, NetCDF &amp; GeoJSON.</a:t>
            </a:r>
          </a:p>
          <a:p>
            <a:pPr>
              <a:spcAft>
                <a:spcPts val="280"/>
              </a:spcAft>
            </a:pPr>
            <a:r>
              <a:rPr sz="890" b="1">
                <a:solidFill>
                  <a:srgbClr val="102C57"/>
                </a:solidFill>
                <a:latin typeface="Calibri"/>
              </a:rPr>
              <a:t>2. Telemetry Lags &amp; Stale Feeds: </a:t>
            </a:r>
            <a:r>
              <a:rPr sz="860">
                <a:solidFill>
                  <a:srgbClr val="0369A1"/>
                </a:solidFill>
                <a:latin typeface="Calibri"/>
              </a:rPr>
              <a:t>➔ Freshness ledger applies +8 risk penalty if telemetry age &gt; 12 hours.</a:t>
            </a:r>
          </a:p>
          <a:p>
            <a:pPr>
              <a:spcAft>
                <a:spcPts val="280"/>
              </a:spcAft>
            </a:pPr>
            <a:r>
              <a:rPr sz="890" b="1">
                <a:solidFill>
                  <a:srgbClr val="102C57"/>
                </a:solidFill>
                <a:latin typeface="Calibri"/>
              </a:rPr>
              <a:t>3. Inconsistent Multi-Source Data: </a:t>
            </a:r>
            <a:r>
              <a:rPr sz="860">
                <a:solidFill>
                  <a:srgbClr val="0369A1"/>
                </a:solidFill>
                <a:latin typeface="Calibri"/>
              </a:rPr>
              <a:t>➔ In-situ ocean buoys cross-validate satellite grids with reliability weights.</a:t>
            </a:r>
          </a:p>
          <a:p>
            <a:pPr>
              <a:spcAft>
                <a:spcPts val="280"/>
              </a:spcAft>
            </a:pPr>
            <a:r>
              <a:rPr sz="890" b="1">
                <a:solidFill>
                  <a:srgbClr val="102C57"/>
                </a:solidFill>
                <a:latin typeface="Calibri"/>
              </a:rPr>
              <a:t>4. LLM Hallucination in Safety: </a:t>
            </a:r>
            <a:r>
              <a:rPr sz="860">
                <a:solidFill>
                  <a:srgbClr val="0369A1"/>
                </a:solidFill>
                <a:latin typeface="Calibri"/>
              </a:rPr>
              <a:t>➔ Pure deterministic math engine calculates safety; LLM used only for NLP.</a:t>
            </a:r>
          </a:p>
          <a:p>
            <a:pPr>
              <a:spcAft>
                <a:spcPts val="280"/>
              </a:spcAft>
            </a:pPr>
            <a:r>
              <a:rPr sz="890" b="1">
                <a:solidFill>
                  <a:srgbClr val="102C57"/>
                </a:solidFill>
                <a:latin typeface="Calibri"/>
              </a:rPr>
              <a:t>5. Heavy Offshore Spatial Queries: </a:t>
            </a:r>
            <a:r>
              <a:rPr sz="860">
                <a:solidFill>
                  <a:srgbClr val="0369A1"/>
                </a:solidFill>
                <a:latin typeface="Calibri"/>
              </a:rPr>
              <a:t>➔ Embedded Ray-Casting &amp; Haversine index achieves &lt;5ms query execution.</a:t>
            </a:r>
          </a:p>
          <a:p>
            <a:pPr>
              <a:spcAft>
                <a:spcPts val="280"/>
              </a:spcAft>
            </a:pPr>
            <a:r>
              <a:rPr sz="890" b="1">
                <a:solidFill>
                  <a:srgbClr val="102C57"/>
                </a:solidFill>
                <a:latin typeface="Calibri"/>
              </a:rPr>
              <a:t>6. Dangerous Land Crossing Routes: </a:t>
            </a:r>
            <a:r>
              <a:rPr sz="860">
                <a:solidFill>
                  <a:srgbClr val="0369A1"/>
                </a:solidFill>
                <a:latin typeface="Calibri"/>
              </a:rPr>
              <a:t>➔ Geodesic Cape Comorin fairway corridors guarantee 0% land overlap.</a:t>
            </a:r>
          </a:p>
          <a:p>
            <a:pPr>
              <a:spcAft>
                <a:spcPts val="280"/>
              </a:spcAft>
            </a:pPr>
            <a:r>
              <a:rPr sz="890" b="1">
                <a:solidFill>
                  <a:srgbClr val="102C57"/>
                </a:solidFill>
                <a:latin typeface="Calibri"/>
              </a:rPr>
              <a:t>7. Intermittent Offshore 4G/5G: </a:t>
            </a:r>
            <a:r>
              <a:rPr sz="860">
                <a:solidFill>
                  <a:srgbClr val="0369A1"/>
                </a:solidFill>
                <a:latin typeface="Calibri"/>
              </a:rPr>
              <a:t>➔ PWA Offline Service Worker caches coastal tiles and offline fallback alerts.</a:t>
            </a:r>
          </a:p>
          <a:p>
            <a:pPr>
              <a:spcAft>
                <a:spcPts val="280"/>
              </a:spcAft>
            </a:pPr>
            <a:r>
              <a:rPr sz="890" b="1">
                <a:solidFill>
                  <a:srgbClr val="102C57"/>
                </a:solidFill>
                <a:latin typeface="Calibri"/>
              </a:rPr>
              <a:t>8. GMDSS Distress Security: </a:t>
            </a:r>
            <a:r>
              <a:rPr sz="860">
                <a:solidFill>
                  <a:srgbClr val="0369A1"/>
                </a:solidFill>
                <a:latin typeface="Calibri"/>
              </a:rPr>
              <a:t>➔ Stateless tokens &amp; encrypted SHA-256 Coast Guard MRCC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48840" y="219456"/>
            <a:ext cx="7543800" cy="640080"/>
          </a:xfrm>
        </p:spPr>
        <p:txBody>
          <a:bodyPr/>
          <a:lstStyle/>
          <a:p>
            <a:pPr eaLnBrk="1" hangingPunct="1">
              <a:defRPr sz="2300" b="1">
                <a:solidFill>
                  <a:srgbClr val="102C57"/>
                </a:solidFill>
                <a:latin typeface="Calibri"/>
              </a:defRPr>
            </a:pPr>
            <a:r>
              <a:t>IMPACT, ECONOMIC BENEFITS &amp; NATIONAL HORIZON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6916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36576" rIns="36576"/>
          <a:lstStyle/>
          <a:p>
            <a:pPr algn="ctr">
              <a:defRPr sz="1050" b="1">
                <a:solidFill>
                  <a:srgbClr val="102C57"/>
                </a:solidFill>
                <a:latin typeface="Calibri"/>
              </a:defRPr>
            </a:pPr>
            <a:r>
              <a:t>CodeCatalysts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9436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28016"/>
          <a:lstStyle/>
          <a:p>
            <a:pPr algn="ctr" marL="0" indent="0">
              <a:spcAft>
                <a:spcPts val="6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IMPACT ON MARITIME STAKEHOLDERS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Artisanal Coastal Fishermen: </a:t>
            </a:r>
            <a:r>
              <a:rPr sz="900">
                <a:solidFill>
                  <a:srgbClr val="334155"/>
                </a:solidFill>
                <a:latin typeface="Calibri"/>
              </a:rPr>
              <a:t>Prevents boat capsizing during sudden squalls through Douglas sea-state warnings; delivers voice advisories in native mother tongues.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Commercial Fishing Fleets: </a:t>
            </a:r>
            <a:r>
              <a:rPr sz="900">
                <a:solidFill>
                  <a:srgbClr val="334155"/>
                </a:solidFill>
                <a:latin typeface="Calibri"/>
              </a:rPr>
              <a:t>Eliminates accidental International Maritime Boundary Line (IMBL) crossing with automated 12 NM audio proximity radar sirens.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Indian Coast Guard &amp; MRCC: </a:t>
            </a:r>
            <a:r>
              <a:rPr sz="900">
                <a:solidFill>
                  <a:srgbClr val="334155"/>
                </a:solidFill>
                <a:latin typeface="Calibri"/>
              </a:rPr>
              <a:t>Reduces Search and Rescue (SAR) mobilization latency from hours to minutes via cryptographically verified GPS distress tokens.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Port Authorities &amp; Harbor Masters: </a:t>
            </a:r>
            <a:r>
              <a:rPr sz="900">
                <a:solidFill>
                  <a:srgbClr val="334155"/>
                </a:solidFill>
                <a:latin typeface="Calibri"/>
              </a:rPr>
              <a:t>Automates storm warning dissemination (Signals 1–11) and monitors coastal fairway adherence in real-time.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Coastal State Fisheries Depts: </a:t>
            </a:r>
            <a:r>
              <a:rPr sz="900">
                <a:solidFill>
                  <a:srgbClr val="334155"/>
                </a:solidFill>
                <a:latin typeface="Calibri"/>
              </a:rPr>
              <a:t>Provides digital transparency into landing site economics, fuel usage trends, and fish biomass distribution.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21792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28016"/>
          <a:lstStyle/>
          <a:p>
            <a:pPr algn="ctr" marL="0" indent="0">
              <a:spcAft>
                <a:spcPts val="600"/>
              </a:spcAft>
              <a:defRPr sz="1300" b="1">
                <a:solidFill>
                  <a:srgbClr val="059669"/>
                </a:solidFill>
                <a:latin typeface="Calibri"/>
              </a:defRPr>
            </a:pPr>
            <a:r>
              <a:t>TANGIBLE ECONOMIC &amp; ENVIRONMENTAL BENEFITS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Economic Yield (+30% to +45%): </a:t>
            </a:r>
            <a:r>
              <a:rPr sz="900">
                <a:solidFill>
                  <a:srgbClr val="334155"/>
                </a:solidFill>
                <a:latin typeface="Calibri"/>
              </a:rPr>
              <a:t>Pinpoint navigation to INCOIS thermal fronts increases high-value pelagic catch (Tuna, Mackerel) while cutting scouting hours.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Fuel Savings (-20% to -25%): </a:t>
            </a:r>
            <a:r>
              <a:rPr sz="900">
                <a:solidFill>
                  <a:srgbClr val="334155"/>
                </a:solidFill>
                <a:latin typeface="Calibri"/>
              </a:rPr>
              <a:t>Geodesic fairway route optimization reduces diesel consumption by ~18–24 L per artisanal voyage (₹1,800 saved daily).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Life Safety (Zero Casualty Goal): </a:t>
            </a:r>
            <a:r>
              <a:rPr sz="900">
                <a:solidFill>
                  <a:srgbClr val="334155"/>
                </a:solidFill>
                <a:latin typeface="Calibri"/>
              </a:rPr>
              <a:t>Protects 4.5+ million marine fisherfolk across India's 3,200 fishing villages from extreme weather casualties.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Marine Sanctuary Preservation: </a:t>
            </a:r>
            <a:r>
              <a:rPr sz="900">
                <a:solidFill>
                  <a:srgbClr val="334155"/>
                </a:solidFill>
                <a:latin typeface="Calibri"/>
              </a:rPr>
              <a:t>Automated geofencing buffers prevent bottom trawling inside Marine Protected Areas (Gulf of Mannar, Sundarbans, Gahirmatha).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Decarbonization &amp; Green Shipping: </a:t>
            </a:r>
            <a:r>
              <a:rPr sz="900">
                <a:solidFill>
                  <a:srgbClr val="334155"/>
                </a:solidFill>
                <a:latin typeface="Calibri"/>
              </a:rPr>
              <a:t>Saves ~40,000 metric tonnes of coastal diesel CO2 emissions annually across mechanized fishing sectors.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28016"/>
          <a:lstStyle/>
          <a:p>
            <a:pPr algn="ctr" marL="0" indent="0">
              <a:spcAft>
                <a:spcPts val="7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IMPACT ON MARITIME STAKEHOLDERS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Artisanal Coastal Fishermen: </a:t>
            </a:r>
            <a:r>
              <a:rPr sz="910">
                <a:solidFill>
                  <a:srgbClr val="334155"/>
                </a:solidFill>
                <a:latin typeface="Calibri"/>
              </a:rPr>
              <a:t>Prevents boat capsizing during sudden squalls through Douglas sea-state warnings; delivers voice advisories in native mother tongues.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Commercial Fishing Fleets: </a:t>
            </a:r>
            <a:r>
              <a:rPr sz="910">
                <a:solidFill>
                  <a:srgbClr val="334155"/>
                </a:solidFill>
                <a:latin typeface="Calibri"/>
              </a:rPr>
              <a:t>Eliminates accidental International Maritime Boundary Line (IMBL) crossing with automated 12 NM audio proximity radar sirens.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Indian Coast Guard &amp; MRCC: </a:t>
            </a:r>
            <a:r>
              <a:rPr sz="910">
                <a:solidFill>
                  <a:srgbClr val="334155"/>
                </a:solidFill>
                <a:latin typeface="Calibri"/>
              </a:rPr>
              <a:t>Reduces Search and Rescue (SAR) mobilization latency from hours to minutes via cryptographically verified GPS distress tokens.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Port Authorities &amp; Harbor Masters: </a:t>
            </a:r>
            <a:r>
              <a:rPr sz="910">
                <a:solidFill>
                  <a:srgbClr val="334155"/>
                </a:solidFill>
                <a:latin typeface="Calibri"/>
              </a:rPr>
              <a:t>Automates storm warning dissemination (Signals 1–11) and monitors coastal fairway adherence in real-time.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Coastal State Fisheries Depts: </a:t>
            </a:r>
            <a:r>
              <a:rPr sz="910">
                <a:solidFill>
                  <a:srgbClr val="334155"/>
                </a:solidFill>
                <a:latin typeface="Calibri"/>
              </a:rPr>
              <a:t>Provides digital transparency into landing site economics, fuel usage trends, and fish biomass distribution.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1792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28016"/>
          <a:lstStyle/>
          <a:p>
            <a:pPr algn="ctr" marL="0" indent="0">
              <a:spcAft>
                <a:spcPts val="700"/>
              </a:spcAft>
              <a:defRPr sz="1300" b="1">
                <a:solidFill>
                  <a:srgbClr val="059669"/>
                </a:solidFill>
                <a:latin typeface="Calibri"/>
              </a:defRPr>
            </a:pPr>
            <a:r>
              <a:t>TANGIBLE ECONOMIC &amp; ENVIRONMENTAL BENEFITS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Economic Yield (+30% to +45%): </a:t>
            </a:r>
            <a:r>
              <a:rPr sz="910">
                <a:solidFill>
                  <a:srgbClr val="334155"/>
                </a:solidFill>
                <a:latin typeface="Calibri"/>
              </a:rPr>
              <a:t>Pinpoint navigation to INCOIS thermal fronts increases high-value pelagic catch (Tuna, Mackerel) while cutting scouting hours.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Fuel Savings (-20% to -25%): </a:t>
            </a:r>
            <a:r>
              <a:rPr sz="910">
                <a:solidFill>
                  <a:srgbClr val="334155"/>
                </a:solidFill>
                <a:latin typeface="Calibri"/>
              </a:rPr>
              <a:t>Geodesic fairway route optimization reduces diesel consumption by ~18–24 L per artisanal voyage (₹1,800 saved daily).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Life Safety (Zero Casualty Goal): </a:t>
            </a:r>
            <a:r>
              <a:rPr sz="910">
                <a:solidFill>
                  <a:srgbClr val="334155"/>
                </a:solidFill>
                <a:latin typeface="Calibri"/>
              </a:rPr>
              <a:t>Protects 4.5+ million marine fisherfolk across India's 3,200 fishing villages from extreme weather casualties.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Marine Sanctuary Preservation: </a:t>
            </a:r>
            <a:r>
              <a:rPr sz="910">
                <a:solidFill>
                  <a:srgbClr val="334155"/>
                </a:solidFill>
                <a:latin typeface="Calibri"/>
              </a:rPr>
              <a:t>Automated geofencing buffers prevent bottom trawling inside Marine Protected Areas (Gulf of Mannar, Sundarbans, Gahirmatha).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Decarbonization &amp; Green Shipping: </a:t>
            </a:r>
            <a:r>
              <a:rPr sz="910">
                <a:solidFill>
                  <a:srgbClr val="334155"/>
                </a:solidFill>
                <a:latin typeface="Calibri"/>
              </a:rPr>
              <a:t>Saves ~40,000 metric tonnes of coastal diesel CO2 emissions annually across mechanized fishing sectors.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48840" y="219456"/>
            <a:ext cx="7543800" cy="640080"/>
          </a:xfrm>
        </p:spPr>
        <p:txBody>
          <a:bodyPr/>
          <a:lstStyle/>
          <a:p>
            <a:pPr eaLnBrk="1" hangingPunct="1">
              <a:defRPr sz="2300" b="1">
                <a:solidFill>
                  <a:srgbClr val="102C57"/>
                </a:solidFill>
                <a:latin typeface="Calibri"/>
              </a:defRPr>
            </a:pPr>
            <a:r>
              <a:t>RESEARCH BASIS, DATA SOURCES &amp;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6916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36576" rIns="36576"/>
          <a:lstStyle/>
          <a:p>
            <a:pPr algn="ctr">
              <a:defRPr sz="1050" b="1">
                <a:solidFill>
                  <a:srgbClr val="102C57"/>
                </a:solidFill>
                <a:latin typeface="Calibri"/>
              </a:defRPr>
            </a:pPr>
            <a:r>
              <a:t>CodeCatalysts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9436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28016"/>
          <a:lstStyle/>
          <a:p>
            <a:pPr algn="ctr" marL="0" indent="0">
              <a:spcAft>
                <a:spcPts val="6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SCIENTIFIC &amp; NAUTICAL RESEARCH BASIS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Operational Oceanography: </a:t>
            </a:r>
            <a:r>
              <a:rPr sz="900">
                <a:solidFill>
                  <a:srgbClr val="334155"/>
                </a:solidFill>
                <a:latin typeface="Calibri"/>
              </a:rPr>
              <a:t>Implementation of Douglas Sea State (0–9) &amp; Beaufort Wind Force scales to compute vessel-specific stability limits.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Thermal Gradient Edge Detection: </a:t>
            </a:r>
            <a:r>
              <a:rPr sz="900">
                <a:solidFill>
                  <a:srgbClr val="334155"/>
                </a:solidFill>
                <a:latin typeface="Calibri"/>
              </a:rPr>
              <a:t>Sobel differentiation identifying thermal fronts where ΔT/km ≥ 0.5°C/km and chlorophyll-a ≥ 1.0 mg/m³ for pelagic fish congregation.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IMO COLREGS Rule 10 TSS: </a:t>
            </a:r>
            <a:r>
              <a:rPr sz="900">
                <a:solidFill>
                  <a:srgbClr val="334155"/>
                </a:solidFill>
                <a:latin typeface="Calibri"/>
              </a:rPr>
              <a:t>Geodesic nautical fairways avoiding landmasses and respecting maritime traffic separation schemes.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Multi-Agent Autonomous Systems: </a:t>
            </a:r>
            <a:r>
              <a:rPr sz="900">
                <a:solidFill>
                  <a:srgbClr val="334155"/>
                </a:solidFill>
                <a:latin typeface="Calibri"/>
              </a:rPr>
              <a:t>Collaborative task decomposition isolating safety-critical validation from generative text synthesis.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Evidence &amp; Data Provenance: </a:t>
            </a:r>
            <a:r>
              <a:rPr sz="900">
                <a:solidFill>
                  <a:srgbClr val="334155"/>
                </a:solidFill>
                <a:latin typeface="Calibri"/>
              </a:rPr>
              <a:t>Cryptographic audit ledgers with latency, source attribution, and Douglas safety clearance verification.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21792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28016"/>
          <a:lstStyle/>
          <a:p>
            <a:pPr algn="ctr" marL="0" indent="0">
              <a:spcAft>
                <a:spcPts val="600"/>
              </a:spcAft>
              <a:defRPr sz="1300" b="1">
                <a:solidFill>
                  <a:srgbClr val="0369A1"/>
                </a:solidFill>
                <a:latin typeface="Calibri"/>
              </a:defRPr>
            </a:pPr>
            <a:r>
              <a:t>OPERATIONAL DATA SOURCES &amp; CITATIONS</a:t>
            </a:r>
          </a:p>
          <a:p>
            <a:pPr>
              <a:spcAft>
                <a:spcPts val="45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INCOIS (MoES, Govt. of India): </a:t>
            </a:r>
            <a:r>
              <a:rPr sz="900">
                <a:solidFill>
                  <a:srgbClr val="334155"/>
                </a:solidFill>
                <a:latin typeface="Calibri"/>
              </a:rPr>
              <a:t>Ocean State Forecast (OSF) models, Potential Fishing Zone (PFZ) bulletins, and High Wave Alerts.</a:t>
            </a:r>
          </a:p>
          <a:p>
            <a:pPr>
              <a:spcAft>
                <a:spcPts val="45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ISRO MOSDAC &amp; NRSC: </a:t>
            </a:r>
            <a:r>
              <a:rPr sz="900">
                <a:solidFill>
                  <a:srgbClr val="334155"/>
                </a:solidFill>
                <a:latin typeface="Calibri"/>
              </a:rPr>
              <a:t>Oceansat-3 Ocean Color Monitor (OCM-3) Chlorophyll-a and INSAT-3D rapid-scan cyclone imagery.</a:t>
            </a:r>
          </a:p>
          <a:p>
            <a:pPr>
              <a:spcAft>
                <a:spcPts val="45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NOAA CoastWatch (USA): </a:t>
            </a:r>
            <a:r>
              <a:rPr sz="900">
                <a:solidFill>
                  <a:srgbClr val="334155"/>
                </a:solidFill>
                <a:latin typeface="Calibri"/>
              </a:rPr>
              <a:t>Global GHRSST Level-4 OSTIA high-resolution Sea Surface Temperature gridded rasters.</a:t>
            </a:r>
          </a:p>
          <a:p>
            <a:pPr>
              <a:spcAft>
                <a:spcPts val="45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India Meteorological Department (IMD): </a:t>
            </a:r>
            <a:r>
              <a:rPr sz="900">
                <a:solidFill>
                  <a:srgbClr val="334155"/>
                </a:solidFill>
                <a:latin typeface="Calibri"/>
              </a:rPr>
              <a:t>National Cyclone Warning Centre bulletins, Damini Lightning alerts, and Port Danger Signals 1–11.</a:t>
            </a:r>
          </a:p>
          <a:p>
            <a:pPr>
              <a:spcAft>
                <a:spcPts val="45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Indian Coast Guard &amp; NIOT: </a:t>
            </a:r>
            <a:r>
              <a:rPr sz="900">
                <a:solidFill>
                  <a:srgbClr val="334155"/>
                </a:solidFill>
                <a:latin typeface="Calibri"/>
              </a:rPr>
              <a:t>Maritime Rescue Coordination Centre (MRCC) standard operating procedures and deep-sea OMNI buoy networks.</a:t>
            </a:r>
          </a:p>
          <a:p>
            <a:pPr>
              <a:spcAft>
                <a:spcPts val="450"/>
              </a:spcAft>
            </a:pPr>
            <a:r>
              <a:rPr sz="950" b="1">
                <a:solidFill>
                  <a:srgbClr val="102C57"/>
                </a:solidFill>
                <a:latin typeface="Calibri"/>
              </a:rPr>
              <a:t>• Survey of India &amp; CMFRI: </a:t>
            </a:r>
            <a:r>
              <a:rPr sz="900">
                <a:solidFill>
                  <a:srgbClr val="334155"/>
                </a:solidFill>
                <a:latin typeface="Calibri"/>
              </a:rPr>
              <a:t>Official maritime boundary baselines, EEZ limits, and coastal fish auction landing values.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28016"/>
          <a:lstStyle/>
          <a:p>
            <a:pPr algn="ctr" marL="0" indent="0">
              <a:spcAft>
                <a:spcPts val="7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SCIENTIFIC &amp; NAUTICAL RESEARCH BASIS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Operational Oceanography: </a:t>
            </a:r>
            <a:r>
              <a:rPr sz="910">
                <a:solidFill>
                  <a:srgbClr val="334155"/>
                </a:solidFill>
                <a:latin typeface="Calibri"/>
              </a:rPr>
              <a:t>Implementation of Douglas Sea State (0–9) &amp; Beaufort Wind Force scales to compute vessel-specific stability limits.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Thermal Gradient Edge Detection: </a:t>
            </a:r>
            <a:r>
              <a:rPr sz="910">
                <a:solidFill>
                  <a:srgbClr val="334155"/>
                </a:solidFill>
                <a:latin typeface="Calibri"/>
              </a:rPr>
              <a:t>Sobel differentiation identifying thermal fronts where ΔT/km ≥ 0.5°C/km and chlorophyll-a ≥ 1.0 mg/m³ for pelagic fish congregation.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IMO COLREGS Rule 10 TSS: </a:t>
            </a:r>
            <a:r>
              <a:rPr sz="910">
                <a:solidFill>
                  <a:srgbClr val="334155"/>
                </a:solidFill>
                <a:latin typeface="Calibri"/>
              </a:rPr>
              <a:t>Geodesic nautical fairways avoiding landmasses and respecting maritime traffic separation schemes.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Multi-Agent Autonomous Systems: </a:t>
            </a:r>
            <a:r>
              <a:rPr sz="910">
                <a:solidFill>
                  <a:srgbClr val="334155"/>
                </a:solidFill>
                <a:latin typeface="Calibri"/>
              </a:rPr>
              <a:t>Collaborative task decomposition isolating safety-critical validation from generative text synthesis.</a:t>
            </a:r>
          </a:p>
          <a:p>
            <a:pPr>
              <a:spcAft>
                <a:spcPts val="50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Evidence &amp; Data Provenance: </a:t>
            </a:r>
            <a:r>
              <a:rPr sz="910">
                <a:solidFill>
                  <a:srgbClr val="334155"/>
                </a:solidFill>
                <a:latin typeface="Calibri"/>
              </a:rPr>
              <a:t>Cryptographic audit ledgers with latency, source attribution, and Douglas safety clearance verification.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17920" y="1188720"/>
            <a:ext cx="53492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28016"/>
          <a:lstStyle/>
          <a:p>
            <a:pPr algn="ctr" marL="0" indent="0">
              <a:spcAft>
                <a:spcPts val="700"/>
              </a:spcAft>
              <a:defRPr sz="1300" b="1">
                <a:solidFill>
                  <a:srgbClr val="0369A1"/>
                </a:solidFill>
                <a:latin typeface="Calibri"/>
              </a:defRPr>
            </a:pPr>
            <a:r>
              <a:t>OPERATIONAL DATA SOURCES &amp; CITATIONS</a:t>
            </a:r>
          </a:p>
          <a:p>
            <a:pPr>
              <a:spcAft>
                <a:spcPts val="45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INCOIS (MoES, Govt. of India): </a:t>
            </a:r>
            <a:r>
              <a:rPr sz="910">
                <a:solidFill>
                  <a:srgbClr val="334155"/>
                </a:solidFill>
                <a:latin typeface="Calibri"/>
              </a:rPr>
              <a:t>Ocean State Forecast (OSF) models, Potential Fishing Zone (PFZ) bulletins, and High Wave Alerts.</a:t>
            </a:r>
          </a:p>
          <a:p>
            <a:pPr>
              <a:spcAft>
                <a:spcPts val="45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ISRO MOSDAC &amp; NRSC: </a:t>
            </a:r>
            <a:r>
              <a:rPr sz="910">
                <a:solidFill>
                  <a:srgbClr val="334155"/>
                </a:solidFill>
                <a:latin typeface="Calibri"/>
              </a:rPr>
              <a:t>Oceansat-3 Ocean Color Monitor (OCM-3) Chlorophyll-a and INSAT-3D rapid-scan cyclone imagery.</a:t>
            </a:r>
          </a:p>
          <a:p>
            <a:pPr>
              <a:spcAft>
                <a:spcPts val="45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NOAA CoastWatch (USA): </a:t>
            </a:r>
            <a:r>
              <a:rPr sz="910">
                <a:solidFill>
                  <a:srgbClr val="334155"/>
                </a:solidFill>
                <a:latin typeface="Calibri"/>
              </a:rPr>
              <a:t>Global GHRSST Level-4 OSTIA high-resolution Sea Surface Temperature gridded rasters.</a:t>
            </a:r>
          </a:p>
          <a:p>
            <a:pPr>
              <a:spcAft>
                <a:spcPts val="45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India Meteorological Department (IMD): </a:t>
            </a:r>
            <a:r>
              <a:rPr sz="910">
                <a:solidFill>
                  <a:srgbClr val="334155"/>
                </a:solidFill>
                <a:latin typeface="Calibri"/>
              </a:rPr>
              <a:t>National Cyclone Warning Centre bulletins, Damini Lightning alerts, and Port Danger Signals 1–11.</a:t>
            </a:r>
          </a:p>
          <a:p>
            <a:pPr>
              <a:spcAft>
                <a:spcPts val="45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Indian Coast Guard &amp; NIOT: </a:t>
            </a:r>
            <a:r>
              <a:rPr sz="910">
                <a:solidFill>
                  <a:srgbClr val="334155"/>
                </a:solidFill>
                <a:latin typeface="Calibri"/>
              </a:rPr>
              <a:t>Maritime Rescue Coordination Centre (MRCC) standard operating procedures and deep-sea OMNI buoy networks.</a:t>
            </a:r>
          </a:p>
          <a:p>
            <a:pPr>
              <a:spcAft>
                <a:spcPts val="450"/>
              </a:spcAft>
            </a:pPr>
            <a:r>
              <a:rPr sz="960" b="1">
                <a:solidFill>
                  <a:srgbClr val="102C57"/>
                </a:solidFill>
                <a:latin typeface="Calibri"/>
              </a:rPr>
              <a:t>• Survey of India &amp; CMFRI: </a:t>
            </a:r>
            <a:r>
              <a:rPr sz="910">
                <a:solidFill>
                  <a:srgbClr val="334155"/>
                </a:solidFill>
                <a:latin typeface="Calibri"/>
              </a:rPr>
              <a:t>Official maritime boundary baselines, EEZ limits, and coastal fish auction landing values.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