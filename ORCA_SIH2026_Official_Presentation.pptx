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7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3141" y="1376245"/>
            <a:ext cx="5924550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SIH26176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  <a:defRPr sz="1700" b="1">
                <a:solidFill>
                  <a:srgbClr val="1E293B"/>
                </a:solidFill>
                <a:latin typeface="Calibri"/>
              </a:defRPr>
            </a:pPr>
            <a:r>
              <a:t>Problem Statement Title- ORCA: Marine Ecosystem Reasoning with Collaborative Agents.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b="1" dirty="0"/>
              <a:t>Miscellaneous 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CodeCatalysts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560320" y="256032"/>
            <a:ext cx="7132320" cy="548640"/>
          </a:xfrm>
        </p:spPr>
        <p:txBody>
          <a:bodyPr/>
          <a:lstStyle/>
          <a:p>
            <a:pPr eaLnBrk="1" hangingPunct="1" algn="ctr">
              <a:defRPr sz="2600" b="1">
                <a:solidFill>
                  <a:srgbClr val="102C57"/>
                </a:solidFill>
                <a:latin typeface="Calibri"/>
              </a:defRPr>
            </a:pPr>
            <a:r>
              <a:t>ORCA — Agentic AI for Ocean Intelligence</a:t>
            </a:r>
            <a:endParaRPr lang="en-US" sz="28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2" y="97463"/>
            <a:ext cx="240679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CodeCatalysts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707DCB8B-AD4D-CD77-26B5-210E4E0D34EA}"/>
              </a:ext>
            </a:extLst>
          </p:cNvPr>
          <p:cNvSpPr/>
          <p:nvPr/>
        </p:nvSpPr>
        <p:spPr>
          <a:xfrm>
            <a:off x="162062" y="1149200"/>
            <a:ext cx="3794154" cy="3587090"/>
          </a:xfrm>
          <a:prstGeom prst="roundRect">
            <a:avLst/>
          </a:prstGeom>
          <a:solidFill>
            <a:srgbClr val="EEF5FC"/>
          </a:solidFill>
          <a:ln w="12700"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100" b="1" dirty="0">
              <a:solidFill>
                <a:srgbClr val="416FB8"/>
              </a:solidFill>
              <a:latin typeface="Aptos"/>
            </a:endParaRPr>
          </a:p>
        </p:txBody>
      </p:sp>
      <p:sp>
        <p:nvSpPr>
          <p:cNvPr id="5" name="Rounded Rectangle 11">
            <a:extLst>
              <a:ext uri="{FF2B5EF4-FFF2-40B4-BE49-F238E27FC236}">
                <a16:creationId xmlns:a16="http://schemas.microsoft.com/office/drawing/2014/main" id="{7146FC87-1988-B6AC-E32C-E436B01342C0}"/>
              </a:ext>
            </a:extLst>
          </p:cNvPr>
          <p:cNvSpPr/>
          <p:nvPr/>
        </p:nvSpPr>
        <p:spPr>
          <a:xfrm>
            <a:off x="4058044" y="1063838"/>
            <a:ext cx="3794155" cy="3670886"/>
          </a:xfrm>
          <a:prstGeom prst="roundRect">
            <a:avLst/>
          </a:prstGeom>
          <a:solidFill>
            <a:srgbClr val="EBF8F5"/>
          </a:solidFill>
          <a:ln w="12700"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 marL="0" indent="0">
              <a:spcAft>
                <a:spcPts val="500"/>
              </a:spcAft>
              <a:defRPr sz="1350" b="1">
                <a:solidFill>
                  <a:srgbClr val="25A69A"/>
                </a:solidFill>
                <a:latin typeface="Calibri"/>
              </a:defRPr>
            </a:pPr>
            <a:r>
              <a:t>HOW IT ADDRESSES THE PROBLEM</a:t>
            </a:r>
            <a:endParaRPr lang="en-US" sz="1400" b="1" dirty="0">
              <a:solidFill>
                <a:srgbClr val="25A69A"/>
              </a:solidFill>
              <a:latin typeface="Aptos"/>
            </a:endParaRPr>
          </a:p>
          <a:p>
            <a:pPr>
              <a:spcAft>
                <a:spcPts val="500"/>
              </a:spcAft>
              <a:defRPr sz="919" i="1">
                <a:solidFill>
                  <a:srgbClr val="64748B"/>
                </a:solidFill>
                <a:latin typeface="Calibri"/>
              </a:defRPr>
            </a:pPr>
            <a:r>
              <a:t>Bridges fragmented maritime portals into unified, life-saving intelligence:</a:t>
            </a:r>
          </a:p>
          <a:p>
            <a:pPr>
              <a:spcAft>
                <a:spcPts val="400"/>
              </a:spcAft>
            </a:pPr>
            <a:r>
              <a:rPr sz="919" b="1">
                <a:solidFill>
                  <a:srgbClr val="102C57"/>
                </a:solidFill>
                <a:latin typeface="Calibri"/>
              </a:rPr>
              <a:t>• Unifies Fragmented Feeds: </a:t>
            </a:r>
            <a:r>
              <a:rPr sz="880">
                <a:solidFill>
                  <a:srgbClr val="1E293B"/>
                </a:solidFill>
                <a:latin typeface="Calibri"/>
              </a:rPr>
              <a:t>Aggregates scattered data from IMD, INCOIS, ISRO, NOAA &amp; Coast Guard into one pane.</a:t>
            </a:r>
          </a:p>
          <a:p>
            <a:pPr>
              <a:spcAft>
                <a:spcPts val="400"/>
              </a:spcAft>
            </a:pPr>
            <a:r>
              <a:rPr sz="919" b="1">
                <a:solidFill>
                  <a:srgbClr val="102C57"/>
                </a:solidFill>
                <a:latin typeface="Calibri"/>
              </a:rPr>
              <a:t>• Eliminates Manual Search: </a:t>
            </a:r>
            <a:r>
              <a:rPr sz="880">
                <a:solidFill>
                  <a:srgbClr val="1E293B"/>
                </a:solidFill>
                <a:latin typeface="Calibri"/>
              </a:rPr>
              <a:t>Instant, authoritative answers in &lt;1.5s, eliminating multi-portal searching.</a:t>
            </a:r>
          </a:p>
          <a:p>
            <a:pPr>
              <a:spcAft>
                <a:spcPts val="400"/>
              </a:spcAft>
            </a:pPr>
            <a:r>
              <a:rPr sz="919" b="1">
                <a:solidFill>
                  <a:srgbClr val="102C57"/>
                </a:solidFill>
                <a:latin typeface="Calibri"/>
              </a:rPr>
              <a:t>• Craft &amp; Vessel Aware: </a:t>
            </a:r>
            <a:r>
              <a:rPr sz="880">
                <a:solidFill>
                  <a:srgbClr val="1E293B"/>
                </a:solidFill>
                <a:latin typeface="Calibri"/>
              </a:rPr>
              <a:t>Tailors safety guidance specifically for vessel type (artisanal skiffs vs commercial trawlers).</a:t>
            </a:r>
          </a:p>
          <a:p>
            <a:pPr>
              <a:spcAft>
                <a:spcPts val="400"/>
              </a:spcAft>
            </a:pPr>
            <a:r>
              <a:rPr sz="919" b="1">
                <a:solidFill>
                  <a:srgbClr val="102C57"/>
                </a:solidFill>
                <a:latin typeface="Calibri"/>
              </a:rPr>
              <a:t>• Simplifies Complexity: </a:t>
            </a:r>
            <a:r>
              <a:rPr sz="880">
                <a:solidFill>
                  <a:srgbClr val="1E293B"/>
                </a:solidFill>
                <a:latin typeface="Calibri"/>
              </a:rPr>
              <a:t>Converts raw GRIB rasters and buoy metrics into clear Douglas sea-state advisories.</a:t>
            </a:r>
          </a:p>
          <a:p>
            <a:pPr>
              <a:spcAft>
                <a:spcPts val="400"/>
              </a:spcAft>
            </a:pPr>
            <a:r>
              <a:rPr sz="919" b="1">
                <a:solidFill>
                  <a:srgbClr val="102C57"/>
                </a:solidFill>
                <a:latin typeface="Calibri"/>
              </a:rPr>
              <a:t>• Multi-Modal Delivery: </a:t>
            </a:r>
            <a:r>
              <a:rPr sz="880">
                <a:solidFill>
                  <a:srgbClr val="1E293B"/>
                </a:solidFill>
                <a:latin typeface="Calibri"/>
              </a:rPr>
              <a:t>Delivers 60 FPS vector maps, safe fairway corridors, risk scores, and evidence tables.</a:t>
            </a:r>
          </a:p>
        </p:txBody>
      </p:sp>
      <p:sp>
        <p:nvSpPr>
          <p:cNvPr id="14" name="Rounded Rectangle 18">
            <a:extLst>
              <a:ext uri="{FF2B5EF4-FFF2-40B4-BE49-F238E27FC236}">
                <a16:creationId xmlns:a16="http://schemas.microsoft.com/office/drawing/2014/main" id="{872FCD80-54AA-0B06-9A63-081B6FE32A98}"/>
              </a:ext>
            </a:extLst>
          </p:cNvPr>
          <p:cNvSpPr/>
          <p:nvPr/>
        </p:nvSpPr>
        <p:spPr>
          <a:xfrm>
            <a:off x="8045351" y="1026156"/>
            <a:ext cx="3913507" cy="3803261"/>
          </a:xfrm>
          <a:prstGeom prst="roundRect">
            <a:avLst/>
          </a:prstGeom>
          <a:solidFill>
            <a:srgbClr val="F3F0F9"/>
          </a:solidFill>
          <a:ln w="12700"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IN" sz="1600" b="1" dirty="0">
              <a:solidFill>
                <a:schemeClr val="tx1"/>
              </a:solidFill>
            </a:endParaRP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050" b="1">
                <a:solidFill>
                  <a:srgbClr val="102C57"/>
                </a:solidFill>
                <a:latin typeface="Calibri"/>
              </a:rPr>
              <a:t>• 8 Collaborative AI Agents
</a:t>
            </a:r>
            <a:r>
              <a:rPr sz="900">
                <a:solidFill>
                  <a:srgbClr val="1E293B"/>
                </a:solidFill>
                <a:latin typeface="Calibri"/>
              </a:rPr>
              <a:t>  1 Planning + 7 Domain Agents coordinating asynchronously with zero hallucination.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050" b="1">
                <a:solidFill>
                  <a:srgbClr val="102C57"/>
                </a:solidFill>
                <a:latin typeface="Calibri"/>
              </a:rPr>
              <a:t>• Native Indic Voice Copilot
</a:t>
            </a:r>
            <a:r>
              <a:rPr sz="900">
                <a:solidFill>
                  <a:srgbClr val="1E293B"/>
                </a:solidFill>
                <a:latin typeface="Calibri"/>
              </a:rPr>
              <a:t>  Full STT/TTS in 12+ coastal languages tailored for low-literacy seafarers.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050" b="1">
                <a:solidFill>
                  <a:srgbClr val="102C57"/>
                </a:solidFill>
                <a:latin typeface="Calibri"/>
              </a:rPr>
              <a:t>• 60 FPS Fluid Canvas HUD
</a:t>
            </a:r>
            <a:r>
              <a:rPr sz="900">
                <a:solidFill>
                  <a:srgbClr val="1E293B"/>
                </a:solidFill>
                <a:latin typeface="Calibri"/>
              </a:rPr>
              <a:t>  Windy-style real-time particle streams &amp; SST thermal fronts over vector maps.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050" b="1">
                <a:solidFill>
                  <a:srgbClr val="102C57"/>
                </a:solidFill>
                <a:latin typeface="Calibri"/>
              </a:rPr>
              <a:t>• Deterministic Safety &amp; Routing
</a:t>
            </a:r>
            <a:r>
              <a:rPr sz="900">
                <a:solidFill>
                  <a:srgbClr val="1E293B"/>
                </a:solidFill>
                <a:latin typeface="Calibri"/>
              </a:rPr>
              <a:t>  0–100 Risk Engine + Cape Comorin fairway corridors (0% land crossing guarantee).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050" b="1">
                <a:solidFill>
                  <a:srgbClr val="102C57"/>
                </a:solidFill>
                <a:latin typeface="Calibri"/>
              </a:rPr>
              <a:t>• Automated GMDSS Distress Dispatch
</a:t>
            </a:r>
            <a:r>
              <a:rPr sz="900">
                <a:solidFill>
                  <a:srgbClr val="1E293B"/>
                </a:solidFill>
                <a:latin typeface="Calibri"/>
              </a:rPr>
              <a:t>  Instant Coast Guard MRCC routing (Kochi/Mumbai/Chennai) with SHA-256 receipts.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76F0F0-6FE8-F59C-37FD-7537498EABD5}"/>
              </a:ext>
            </a:extLst>
          </p:cNvPr>
          <p:cNvSpPr txBox="1"/>
          <p:nvPr/>
        </p:nvSpPr>
        <p:spPr>
          <a:xfrm>
            <a:off x="8624408" y="1119772"/>
            <a:ext cx="2755392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dirty="0">
                <a:solidFill>
                  <a:srgbClr val="6A53A8"/>
                </a:solidFill>
                <a:latin typeface="Aptos"/>
              </a:rPr>
              <a:t>INNOVATION &amp; UNIQUENESS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CEBFEA-441F-4F5C-E039-A6D553C08516}"/>
              </a:ext>
            </a:extLst>
          </p:cNvPr>
          <p:cNvSpPr txBox="1"/>
          <p:nvPr/>
        </p:nvSpPr>
        <p:spPr>
          <a:xfrm>
            <a:off x="928789" y="1215952"/>
            <a:ext cx="1640065" cy="192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IN" sz="1250" b="1" dirty="0">
                <a:solidFill>
                  <a:srgbClr val="416FB8"/>
                </a:solidFill>
                <a:latin typeface="Aptos"/>
              </a:rPr>
              <a:t>    </a:t>
            </a:r>
            <a:r>
              <a:rPr sz="1250" b="1" dirty="0">
                <a:solidFill>
                  <a:srgbClr val="416FB8"/>
                </a:solidFill>
                <a:latin typeface="Aptos"/>
              </a:rPr>
              <a:t>DETAILED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017841-94A9-5426-A8CF-88751D5309AE}"/>
              </a:ext>
            </a:extLst>
          </p:cNvPr>
          <p:cNvSpPr txBox="1"/>
          <p:nvPr/>
        </p:nvSpPr>
        <p:spPr>
          <a:xfrm>
            <a:off x="233142" y="1431704"/>
            <a:ext cx="3662500" cy="354565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marL="0" marR="5080" indent="0">
              <a:lnSpc>
                <a:spcPct val="121900"/>
              </a:lnSpc>
              <a:spcBef>
                <a:spcPts val="175"/>
              </a:spcBef>
              <a:spcAft>
                <a:spcPts val="400"/>
              </a:spcAft>
            </a:pPr>
            <a:r>
              <a:rPr sz="919" b="1">
                <a:solidFill>
                  <a:srgbClr val="102C57"/>
                </a:solidFill>
                <a:latin typeface="Calibri"/>
              </a:rPr>
              <a:t>• Operational Ocean Platform: </a:t>
            </a:r>
            <a:r>
              <a:rPr sz="880">
                <a:solidFill>
                  <a:srgbClr val="1E293B"/>
                </a:solidFill>
                <a:latin typeface="Calibri"/>
              </a:rPr>
              <a:t>Real-time agentic system delivering zero-hallucination decision support for coastal safety.</a:t>
            </a:r>
          </a:p>
          <a:p>
            <a:pPr>
              <a:spcAft>
                <a:spcPts val="400"/>
              </a:spcAft>
            </a:pPr>
            <a:r>
              <a:rPr sz="919" b="1">
                <a:solidFill>
                  <a:srgbClr val="102C57"/>
                </a:solidFill>
                <a:latin typeface="Calibri"/>
              </a:rPr>
              <a:t>• Conversational Marine Copilot: </a:t>
            </a:r>
            <a:r>
              <a:rPr sz="880">
                <a:solidFill>
                  <a:srgbClr val="1E293B"/>
                </a:solidFill>
                <a:latin typeface="Calibri"/>
              </a:rPr>
              <a:t>Natural queries via Text &amp; Voice in 12+ Indic languages (Tamil, Malayalam, Hindi, Telugu, etc.).</a:t>
            </a:r>
          </a:p>
          <a:p>
            <a:pPr>
              <a:spcAft>
                <a:spcPts val="400"/>
              </a:spcAft>
            </a:pPr>
            <a:r>
              <a:rPr sz="919" b="1">
                <a:solidFill>
                  <a:srgbClr val="102C57"/>
                </a:solidFill>
                <a:latin typeface="Calibri"/>
              </a:rPr>
              <a:t>• 8 Collaborative AI Agents: </a:t>
            </a:r>
            <a:r>
              <a:rPr sz="880">
                <a:solidFill>
                  <a:srgbClr val="1E293B"/>
                </a:solidFill>
                <a:latin typeface="Calibri"/>
              </a:rPr>
              <a:t>Dynamic orchestration decomposing complex queries across domain specialists.</a:t>
            </a:r>
          </a:p>
          <a:p>
            <a:pPr>
              <a:spcAft>
                <a:spcPts val="400"/>
              </a:spcAft>
            </a:pPr>
            <a:r>
              <a:rPr sz="919" b="1">
                <a:solidFill>
                  <a:srgbClr val="102C57"/>
                </a:solidFill>
                <a:latin typeface="Calibri"/>
              </a:rPr>
              <a:t>• Multi-Source Telemetry: </a:t>
            </a:r>
            <a:r>
              <a:rPr sz="880">
                <a:solidFill>
                  <a:srgbClr val="1E293B"/>
                </a:solidFill>
                <a:latin typeface="Calibri"/>
              </a:rPr>
              <a:t>Live satellite (NOAA GHRSST L4, ISRO OCM-3), weather models (Open-Meteo), and in-situ buoys (INCOIS).</a:t>
            </a:r>
          </a:p>
          <a:p>
            <a:pPr>
              <a:spcAft>
                <a:spcPts val="400"/>
              </a:spcAft>
            </a:pPr>
            <a:r>
              <a:rPr sz="919" b="1">
                <a:solidFill>
                  <a:srgbClr val="102C57"/>
                </a:solidFill>
                <a:latin typeface="Calibri"/>
              </a:rPr>
              <a:t>• Maritime Cockpit HUD: </a:t>
            </a:r>
            <a:r>
              <a:rPr sz="880">
                <a:solidFill>
                  <a:srgbClr val="1E293B"/>
                </a:solidFill>
                <a:latin typeface="Calibri"/>
              </a:rPr>
              <a:t>60 FPS Windy canvas fluid simulation, turn-by-turn fairway routing, and GMDSS distress SOS beacon.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8195BC3-C8D2-9877-C15B-602ADCC8F6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220" y="4829418"/>
            <a:ext cx="11739716" cy="20299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469859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2269" y="129001"/>
            <a:ext cx="256091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CodeCatalysts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4">
            <a:extLst>
              <a:ext uri="{FF2B5EF4-FFF2-40B4-BE49-F238E27FC236}">
                <a16:creationId xmlns:a16="http://schemas.microsoft.com/office/drawing/2014/main" id="{C8C53AAE-1073-50FD-0E7B-E6B9FB4534FD}"/>
              </a:ext>
            </a:extLst>
          </p:cNvPr>
          <p:cNvSpPr/>
          <p:nvPr/>
        </p:nvSpPr>
        <p:spPr>
          <a:xfrm>
            <a:off x="436797" y="1533700"/>
            <a:ext cx="2995889" cy="459438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>
            <a:extLst>
              <a:ext uri="{FF2B5EF4-FFF2-40B4-BE49-F238E27FC236}">
                <a16:creationId xmlns:a16="http://schemas.microsoft.com/office/drawing/2014/main" id="{84FBA90D-951A-9CA3-7A5B-0A004325E2A9}"/>
              </a:ext>
            </a:extLst>
          </p:cNvPr>
          <p:cNvSpPr txBox="1"/>
          <p:nvPr/>
        </p:nvSpPr>
        <p:spPr>
          <a:xfrm>
            <a:off x="900684" y="1723699"/>
            <a:ext cx="1365758" cy="1461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50" b="1" dirty="0">
                <a:solidFill>
                  <a:srgbClr val="25A69A"/>
                </a:solidFill>
                <a:latin typeface="Aptos"/>
              </a:rPr>
              <a:t>IMPLEMENTATION FLOW</a:t>
            </a:r>
          </a:p>
        </p:txBody>
      </p:sp>
      <p:sp>
        <p:nvSpPr>
          <p:cNvPr id="17413" name="Oval 17412">
            <a:extLst>
              <a:ext uri="{FF2B5EF4-FFF2-40B4-BE49-F238E27FC236}">
                <a16:creationId xmlns:a16="http://schemas.microsoft.com/office/drawing/2014/main" id="{91BE56F6-9D5F-9D36-A3E9-BC923B4CD4D8}"/>
              </a:ext>
            </a:extLst>
          </p:cNvPr>
          <p:cNvSpPr/>
          <p:nvPr/>
        </p:nvSpPr>
        <p:spPr>
          <a:xfrm>
            <a:off x="749808" y="2176272"/>
            <a:ext cx="301752" cy="301752"/>
          </a:xfrm>
          <a:prstGeom prst="ellipse">
            <a:avLst/>
          </a:prstGeom>
          <a:solidFill>
            <a:srgbClr val="25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TextBox 17413">
            <a:extLst>
              <a:ext uri="{FF2B5EF4-FFF2-40B4-BE49-F238E27FC236}">
                <a16:creationId xmlns:a16="http://schemas.microsoft.com/office/drawing/2014/main" id="{BD97CB14-CB83-FFA0-C9CF-131D76C68E7C}"/>
              </a:ext>
            </a:extLst>
          </p:cNvPr>
          <p:cNvSpPr txBox="1"/>
          <p:nvPr/>
        </p:nvSpPr>
        <p:spPr>
          <a:xfrm>
            <a:off x="749808" y="2221991"/>
            <a:ext cx="301752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415" name="TextBox 17414">
            <a:extLst>
              <a:ext uri="{FF2B5EF4-FFF2-40B4-BE49-F238E27FC236}">
                <a16:creationId xmlns:a16="http://schemas.microsoft.com/office/drawing/2014/main" id="{2945E90A-8FD2-4132-7DA1-0B05317F9882}"/>
              </a:ext>
            </a:extLst>
          </p:cNvPr>
          <p:cNvSpPr txBox="1"/>
          <p:nvPr/>
        </p:nvSpPr>
        <p:spPr>
          <a:xfrm>
            <a:off x="1143000" y="2167128"/>
            <a:ext cx="2011680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102C57"/>
                </a:solidFill>
                <a:latin typeface="Calibri"/>
              </a:rPr>
              <a:t>USER INPUT</a:t>
            </a:r>
          </a:p>
        </p:txBody>
      </p:sp>
      <p:sp>
        <p:nvSpPr>
          <p:cNvPr id="17416" name="TextBox 17415">
            <a:extLst>
              <a:ext uri="{FF2B5EF4-FFF2-40B4-BE49-F238E27FC236}">
                <a16:creationId xmlns:a16="http://schemas.microsoft.com/office/drawing/2014/main" id="{D6768599-19F6-2911-8423-1F38977C4AF2}"/>
              </a:ext>
            </a:extLst>
          </p:cNvPr>
          <p:cNvSpPr txBox="1"/>
          <p:nvPr/>
        </p:nvSpPr>
        <p:spPr>
          <a:xfrm>
            <a:off x="1143000" y="2377440"/>
            <a:ext cx="20116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Natural text/voice + auto GPS location</a:t>
            </a:r>
          </a:p>
        </p:txBody>
      </p:sp>
      <p:cxnSp>
        <p:nvCxnSpPr>
          <p:cNvPr id="17417" name="Connector 10">
            <a:extLst>
              <a:ext uri="{FF2B5EF4-FFF2-40B4-BE49-F238E27FC236}">
                <a16:creationId xmlns:a16="http://schemas.microsoft.com/office/drawing/2014/main" id="{F94A7633-F6A8-BAC0-6B8A-7932A29412A1}"/>
              </a:ext>
            </a:extLst>
          </p:cNvPr>
          <p:cNvCxnSpPr/>
          <p:nvPr/>
        </p:nvCxnSpPr>
        <p:spPr>
          <a:xfrm>
            <a:off x="900684" y="2487168"/>
            <a:ext cx="0" cy="219456"/>
          </a:xfrm>
          <a:prstGeom prst="line">
            <a:avLst/>
          </a:prstGeom>
          <a:ln w="12700">
            <a:solidFill>
              <a:srgbClr val="D6E0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Oval 17417">
            <a:extLst>
              <a:ext uri="{FF2B5EF4-FFF2-40B4-BE49-F238E27FC236}">
                <a16:creationId xmlns:a16="http://schemas.microsoft.com/office/drawing/2014/main" id="{9B002AB6-C927-3B2B-8354-CFB669924845}"/>
              </a:ext>
            </a:extLst>
          </p:cNvPr>
          <p:cNvSpPr/>
          <p:nvPr/>
        </p:nvSpPr>
        <p:spPr>
          <a:xfrm>
            <a:off x="749808" y="2770632"/>
            <a:ext cx="301752" cy="301752"/>
          </a:xfrm>
          <a:prstGeom prst="ellipse">
            <a:avLst/>
          </a:prstGeom>
          <a:solidFill>
            <a:srgbClr val="6A5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TextBox 17418">
            <a:extLst>
              <a:ext uri="{FF2B5EF4-FFF2-40B4-BE49-F238E27FC236}">
                <a16:creationId xmlns:a16="http://schemas.microsoft.com/office/drawing/2014/main" id="{4902FBA9-5D40-7C18-2BDB-3B48CCE82C21}"/>
              </a:ext>
            </a:extLst>
          </p:cNvPr>
          <p:cNvSpPr txBox="1"/>
          <p:nvPr/>
        </p:nvSpPr>
        <p:spPr>
          <a:xfrm>
            <a:off x="749808" y="2816351"/>
            <a:ext cx="301752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420" name="TextBox 17419">
            <a:extLst>
              <a:ext uri="{FF2B5EF4-FFF2-40B4-BE49-F238E27FC236}">
                <a16:creationId xmlns:a16="http://schemas.microsoft.com/office/drawing/2014/main" id="{065825FF-EA82-774B-8A2B-F6C214862440}"/>
              </a:ext>
            </a:extLst>
          </p:cNvPr>
          <p:cNvSpPr txBox="1"/>
          <p:nvPr/>
        </p:nvSpPr>
        <p:spPr>
          <a:xfrm>
            <a:off x="1143000" y="2761488"/>
            <a:ext cx="2011680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102C57"/>
                </a:solidFill>
                <a:latin typeface="Calibri"/>
              </a:rPr>
              <a:t>PLANNING</a:t>
            </a:r>
          </a:p>
        </p:txBody>
      </p:sp>
      <p:sp>
        <p:nvSpPr>
          <p:cNvPr id="17421" name="TextBox 17420">
            <a:extLst>
              <a:ext uri="{FF2B5EF4-FFF2-40B4-BE49-F238E27FC236}">
                <a16:creationId xmlns:a16="http://schemas.microsoft.com/office/drawing/2014/main" id="{2752ED74-57C3-2AE7-FC87-6179C3CF27C3}"/>
              </a:ext>
            </a:extLst>
          </p:cNvPr>
          <p:cNvSpPr txBox="1"/>
          <p:nvPr/>
        </p:nvSpPr>
        <p:spPr>
          <a:xfrm>
            <a:off x="1143000" y="2971800"/>
            <a:ext cx="20116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Intent classification &amp; agent delegation</a:t>
            </a:r>
          </a:p>
        </p:txBody>
      </p:sp>
      <p:cxnSp>
        <p:nvCxnSpPr>
          <p:cNvPr id="17422" name="Connector 15">
            <a:extLst>
              <a:ext uri="{FF2B5EF4-FFF2-40B4-BE49-F238E27FC236}">
                <a16:creationId xmlns:a16="http://schemas.microsoft.com/office/drawing/2014/main" id="{62ABD88B-53C4-F541-6A90-8E46659AC862}"/>
              </a:ext>
            </a:extLst>
          </p:cNvPr>
          <p:cNvCxnSpPr/>
          <p:nvPr/>
        </p:nvCxnSpPr>
        <p:spPr>
          <a:xfrm>
            <a:off x="900684" y="3081527"/>
            <a:ext cx="0" cy="219457"/>
          </a:xfrm>
          <a:prstGeom prst="line">
            <a:avLst/>
          </a:prstGeom>
          <a:ln w="12700">
            <a:solidFill>
              <a:srgbClr val="D6E0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Oval 17422">
            <a:extLst>
              <a:ext uri="{FF2B5EF4-FFF2-40B4-BE49-F238E27FC236}">
                <a16:creationId xmlns:a16="http://schemas.microsoft.com/office/drawing/2014/main" id="{0E003D57-E23D-6C40-9D55-539FDA656897}"/>
              </a:ext>
            </a:extLst>
          </p:cNvPr>
          <p:cNvSpPr/>
          <p:nvPr/>
        </p:nvSpPr>
        <p:spPr>
          <a:xfrm>
            <a:off x="749808" y="3364991"/>
            <a:ext cx="301752" cy="301752"/>
          </a:xfrm>
          <a:prstGeom prst="ellipse">
            <a:avLst/>
          </a:prstGeom>
          <a:solidFill>
            <a:srgbClr val="41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TextBox 17423">
            <a:extLst>
              <a:ext uri="{FF2B5EF4-FFF2-40B4-BE49-F238E27FC236}">
                <a16:creationId xmlns:a16="http://schemas.microsoft.com/office/drawing/2014/main" id="{BFAFA225-6544-AF7D-E6B9-12246FC61528}"/>
              </a:ext>
            </a:extLst>
          </p:cNvPr>
          <p:cNvSpPr txBox="1"/>
          <p:nvPr/>
        </p:nvSpPr>
        <p:spPr>
          <a:xfrm>
            <a:off x="749808" y="3410711"/>
            <a:ext cx="301752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425" name="TextBox 17424">
            <a:extLst>
              <a:ext uri="{FF2B5EF4-FFF2-40B4-BE49-F238E27FC236}">
                <a16:creationId xmlns:a16="http://schemas.microsoft.com/office/drawing/2014/main" id="{99A4DFE3-6CC5-6CBE-606B-EDFCDD73882C}"/>
              </a:ext>
            </a:extLst>
          </p:cNvPr>
          <p:cNvSpPr txBox="1"/>
          <p:nvPr/>
        </p:nvSpPr>
        <p:spPr>
          <a:xfrm>
            <a:off x="1143000" y="3355848"/>
            <a:ext cx="2011680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102C57"/>
                </a:solidFill>
                <a:latin typeface="Calibri"/>
              </a:rPr>
              <a:t>8 AI AGENTS</a:t>
            </a:r>
          </a:p>
        </p:txBody>
      </p:sp>
      <p:sp>
        <p:nvSpPr>
          <p:cNvPr id="17426" name="TextBox 17425">
            <a:extLst>
              <a:ext uri="{FF2B5EF4-FFF2-40B4-BE49-F238E27FC236}">
                <a16:creationId xmlns:a16="http://schemas.microsoft.com/office/drawing/2014/main" id="{10966FF1-2F1A-E2DA-46DB-55C49094713D}"/>
              </a:ext>
            </a:extLst>
          </p:cNvPr>
          <p:cNvSpPr txBox="1"/>
          <p:nvPr/>
        </p:nvSpPr>
        <p:spPr>
          <a:xfrm>
            <a:off x="1143000" y="3566160"/>
            <a:ext cx="20116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Specialized domain multi-agent team</a:t>
            </a:r>
          </a:p>
        </p:txBody>
      </p:sp>
      <p:cxnSp>
        <p:nvCxnSpPr>
          <p:cNvPr id="17427" name="Connector 20">
            <a:extLst>
              <a:ext uri="{FF2B5EF4-FFF2-40B4-BE49-F238E27FC236}">
                <a16:creationId xmlns:a16="http://schemas.microsoft.com/office/drawing/2014/main" id="{35D8564E-0A21-9B5E-07B5-399FDA9DBDB1}"/>
              </a:ext>
            </a:extLst>
          </p:cNvPr>
          <p:cNvCxnSpPr/>
          <p:nvPr/>
        </p:nvCxnSpPr>
        <p:spPr>
          <a:xfrm>
            <a:off x="900684" y="3675887"/>
            <a:ext cx="0" cy="219457"/>
          </a:xfrm>
          <a:prstGeom prst="line">
            <a:avLst/>
          </a:prstGeom>
          <a:ln w="12700">
            <a:solidFill>
              <a:srgbClr val="D6E0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8" name="Oval 17427">
            <a:extLst>
              <a:ext uri="{FF2B5EF4-FFF2-40B4-BE49-F238E27FC236}">
                <a16:creationId xmlns:a16="http://schemas.microsoft.com/office/drawing/2014/main" id="{02761465-BACE-5590-A85B-224A79A9D420}"/>
              </a:ext>
            </a:extLst>
          </p:cNvPr>
          <p:cNvSpPr/>
          <p:nvPr/>
        </p:nvSpPr>
        <p:spPr>
          <a:xfrm>
            <a:off x="749808" y="3959352"/>
            <a:ext cx="301752" cy="301752"/>
          </a:xfrm>
          <a:prstGeom prst="ellipse">
            <a:avLst/>
          </a:prstGeom>
          <a:solidFill>
            <a:srgbClr val="45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TextBox 17428">
            <a:extLst>
              <a:ext uri="{FF2B5EF4-FFF2-40B4-BE49-F238E27FC236}">
                <a16:creationId xmlns:a16="http://schemas.microsoft.com/office/drawing/2014/main" id="{B27E50FD-4C2C-78CD-5422-7EE90DD4E5F8}"/>
              </a:ext>
            </a:extLst>
          </p:cNvPr>
          <p:cNvSpPr txBox="1"/>
          <p:nvPr/>
        </p:nvSpPr>
        <p:spPr>
          <a:xfrm>
            <a:off x="749808" y="4005072"/>
            <a:ext cx="301752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430" name="TextBox 17429">
            <a:extLst>
              <a:ext uri="{FF2B5EF4-FFF2-40B4-BE49-F238E27FC236}">
                <a16:creationId xmlns:a16="http://schemas.microsoft.com/office/drawing/2014/main" id="{770833C4-E176-C72D-DDA9-6D097BB54690}"/>
              </a:ext>
            </a:extLst>
          </p:cNvPr>
          <p:cNvSpPr txBox="1"/>
          <p:nvPr/>
        </p:nvSpPr>
        <p:spPr>
          <a:xfrm>
            <a:off x="1143000" y="3950208"/>
            <a:ext cx="2011680" cy="1508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102C57"/>
                </a:solidFill>
                <a:latin typeface="Calibri"/>
              </a:rPr>
              <a:t>DATA RETRIEVAL</a:t>
            </a:r>
            <a:endParaRPr sz="980" b="1" dirty="0">
              <a:solidFill>
                <a:srgbClr val="091F32"/>
              </a:solidFill>
              <a:latin typeface="Aptos"/>
            </a:endParaRPr>
          </a:p>
        </p:txBody>
      </p:sp>
      <p:sp>
        <p:nvSpPr>
          <p:cNvPr id="17431" name="TextBox 17430">
            <a:extLst>
              <a:ext uri="{FF2B5EF4-FFF2-40B4-BE49-F238E27FC236}">
                <a16:creationId xmlns:a16="http://schemas.microsoft.com/office/drawing/2014/main" id="{1A65AF71-158E-0E4E-7C0F-039E5EC6A1C7}"/>
              </a:ext>
            </a:extLst>
          </p:cNvPr>
          <p:cNvSpPr txBox="1"/>
          <p:nvPr/>
        </p:nvSpPr>
        <p:spPr>
          <a:xfrm>
            <a:off x="1143000" y="4160520"/>
            <a:ext cx="20116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Satellite + Weather + Buoys + GIS</a:t>
            </a:r>
          </a:p>
        </p:txBody>
      </p:sp>
      <p:cxnSp>
        <p:nvCxnSpPr>
          <p:cNvPr id="17432" name="Connector 25">
            <a:extLst>
              <a:ext uri="{FF2B5EF4-FFF2-40B4-BE49-F238E27FC236}">
                <a16:creationId xmlns:a16="http://schemas.microsoft.com/office/drawing/2014/main" id="{F7F06554-2142-F883-463C-429B8C3A6DAD}"/>
              </a:ext>
            </a:extLst>
          </p:cNvPr>
          <p:cNvCxnSpPr/>
          <p:nvPr/>
        </p:nvCxnSpPr>
        <p:spPr>
          <a:xfrm>
            <a:off x="900684" y="4270248"/>
            <a:ext cx="0" cy="219456"/>
          </a:xfrm>
          <a:prstGeom prst="line">
            <a:avLst/>
          </a:prstGeom>
          <a:ln w="12700">
            <a:solidFill>
              <a:srgbClr val="D6E0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3" name="Oval 17432">
            <a:extLst>
              <a:ext uri="{FF2B5EF4-FFF2-40B4-BE49-F238E27FC236}">
                <a16:creationId xmlns:a16="http://schemas.microsoft.com/office/drawing/2014/main" id="{C71EFF48-DCDC-2200-84AF-281971531A57}"/>
              </a:ext>
            </a:extLst>
          </p:cNvPr>
          <p:cNvSpPr/>
          <p:nvPr/>
        </p:nvSpPr>
        <p:spPr>
          <a:xfrm>
            <a:off x="749808" y="4553712"/>
            <a:ext cx="301752" cy="301752"/>
          </a:xfrm>
          <a:prstGeom prst="ellipse">
            <a:avLst/>
          </a:prstGeom>
          <a:solidFill>
            <a:srgbClr val="DB9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TextBox 17433">
            <a:extLst>
              <a:ext uri="{FF2B5EF4-FFF2-40B4-BE49-F238E27FC236}">
                <a16:creationId xmlns:a16="http://schemas.microsoft.com/office/drawing/2014/main" id="{10940AB5-E3C4-CAFD-DCB3-51852410B96F}"/>
              </a:ext>
            </a:extLst>
          </p:cNvPr>
          <p:cNvSpPr txBox="1"/>
          <p:nvPr/>
        </p:nvSpPr>
        <p:spPr>
          <a:xfrm>
            <a:off x="749808" y="4599432"/>
            <a:ext cx="301752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7435" name="TextBox 17434">
            <a:extLst>
              <a:ext uri="{FF2B5EF4-FFF2-40B4-BE49-F238E27FC236}">
                <a16:creationId xmlns:a16="http://schemas.microsoft.com/office/drawing/2014/main" id="{1EC06CCD-3DE4-DBC2-B5BB-5706AADF7959}"/>
              </a:ext>
            </a:extLst>
          </p:cNvPr>
          <p:cNvSpPr txBox="1"/>
          <p:nvPr/>
        </p:nvSpPr>
        <p:spPr>
          <a:xfrm>
            <a:off x="1143000" y="4544568"/>
            <a:ext cx="2011680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102C57"/>
                </a:solidFill>
                <a:latin typeface="Calibri"/>
              </a:rPr>
              <a:t>VALIDATE &amp; ANALYSE</a:t>
            </a:r>
          </a:p>
        </p:txBody>
      </p:sp>
      <p:sp>
        <p:nvSpPr>
          <p:cNvPr id="17436" name="TextBox 17435">
            <a:extLst>
              <a:ext uri="{FF2B5EF4-FFF2-40B4-BE49-F238E27FC236}">
                <a16:creationId xmlns:a16="http://schemas.microsoft.com/office/drawing/2014/main" id="{C6C2C62F-1FF6-72C6-A997-1752BC394435}"/>
              </a:ext>
            </a:extLst>
          </p:cNvPr>
          <p:cNvSpPr txBox="1"/>
          <p:nvPr/>
        </p:nvSpPr>
        <p:spPr>
          <a:xfrm>
            <a:off x="1143000" y="4709160"/>
            <a:ext cx="20116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Quality control &amp; &lt;12h freshness check</a:t>
            </a:r>
          </a:p>
        </p:txBody>
      </p:sp>
      <p:cxnSp>
        <p:nvCxnSpPr>
          <p:cNvPr id="17437" name="Connector 30">
            <a:extLst>
              <a:ext uri="{FF2B5EF4-FFF2-40B4-BE49-F238E27FC236}">
                <a16:creationId xmlns:a16="http://schemas.microsoft.com/office/drawing/2014/main" id="{A4CD75E8-5E78-3FFC-73F2-4083532227F7}"/>
              </a:ext>
            </a:extLst>
          </p:cNvPr>
          <p:cNvCxnSpPr/>
          <p:nvPr/>
        </p:nvCxnSpPr>
        <p:spPr>
          <a:xfrm>
            <a:off x="900684" y="4864608"/>
            <a:ext cx="0" cy="219456"/>
          </a:xfrm>
          <a:prstGeom prst="line">
            <a:avLst/>
          </a:prstGeom>
          <a:ln w="12700">
            <a:solidFill>
              <a:srgbClr val="D6E0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8" name="Oval 17437">
            <a:extLst>
              <a:ext uri="{FF2B5EF4-FFF2-40B4-BE49-F238E27FC236}">
                <a16:creationId xmlns:a16="http://schemas.microsoft.com/office/drawing/2014/main" id="{75A6F8D6-B9CC-6293-1945-C6189D4B044F}"/>
              </a:ext>
            </a:extLst>
          </p:cNvPr>
          <p:cNvSpPr/>
          <p:nvPr/>
        </p:nvSpPr>
        <p:spPr>
          <a:xfrm>
            <a:off x="749808" y="5148072"/>
            <a:ext cx="301752" cy="301752"/>
          </a:xfrm>
          <a:prstGeom prst="ellipse">
            <a:avLst/>
          </a:prstGeom>
          <a:solidFill>
            <a:srgbClr val="D36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9" name="TextBox 17438">
            <a:extLst>
              <a:ext uri="{FF2B5EF4-FFF2-40B4-BE49-F238E27FC236}">
                <a16:creationId xmlns:a16="http://schemas.microsoft.com/office/drawing/2014/main" id="{A5D6187C-48D0-75E9-3818-92A120583C60}"/>
              </a:ext>
            </a:extLst>
          </p:cNvPr>
          <p:cNvSpPr txBox="1"/>
          <p:nvPr/>
        </p:nvSpPr>
        <p:spPr>
          <a:xfrm>
            <a:off x="749808" y="5193792"/>
            <a:ext cx="301752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7440" name="TextBox 17439">
            <a:extLst>
              <a:ext uri="{FF2B5EF4-FFF2-40B4-BE49-F238E27FC236}">
                <a16:creationId xmlns:a16="http://schemas.microsoft.com/office/drawing/2014/main" id="{6B75430E-1C0B-3F8B-9E8E-E073BC7D4973}"/>
              </a:ext>
            </a:extLst>
          </p:cNvPr>
          <p:cNvSpPr txBox="1"/>
          <p:nvPr/>
        </p:nvSpPr>
        <p:spPr>
          <a:xfrm>
            <a:off x="1143000" y="5138928"/>
            <a:ext cx="2011680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102C57"/>
                </a:solidFill>
                <a:latin typeface="Calibri"/>
              </a:rPr>
              <a:t>REASON &amp; ASSESS</a:t>
            </a:r>
          </a:p>
        </p:txBody>
      </p:sp>
      <p:sp>
        <p:nvSpPr>
          <p:cNvPr id="17441" name="TextBox 17440">
            <a:extLst>
              <a:ext uri="{FF2B5EF4-FFF2-40B4-BE49-F238E27FC236}">
                <a16:creationId xmlns:a16="http://schemas.microsoft.com/office/drawing/2014/main" id="{ED89EC6D-3C25-F663-EEC8-6C952CD90753}"/>
              </a:ext>
            </a:extLst>
          </p:cNvPr>
          <p:cNvSpPr txBox="1"/>
          <p:nvPr/>
        </p:nvSpPr>
        <p:spPr>
          <a:xfrm>
            <a:off x="1143000" y="5349240"/>
            <a:ext cx="20116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Risk Engine (0–100) + Fairway Routing</a:t>
            </a:r>
          </a:p>
        </p:txBody>
      </p:sp>
      <p:cxnSp>
        <p:nvCxnSpPr>
          <p:cNvPr id="17442" name="Connector 35">
            <a:extLst>
              <a:ext uri="{FF2B5EF4-FFF2-40B4-BE49-F238E27FC236}">
                <a16:creationId xmlns:a16="http://schemas.microsoft.com/office/drawing/2014/main" id="{9ABB9E21-ACC2-F24F-A90B-C60DC2D8A268}"/>
              </a:ext>
            </a:extLst>
          </p:cNvPr>
          <p:cNvCxnSpPr/>
          <p:nvPr/>
        </p:nvCxnSpPr>
        <p:spPr>
          <a:xfrm>
            <a:off x="900684" y="5458968"/>
            <a:ext cx="0" cy="219456"/>
          </a:xfrm>
          <a:prstGeom prst="line">
            <a:avLst/>
          </a:prstGeom>
          <a:ln w="12700">
            <a:solidFill>
              <a:srgbClr val="D6E0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3" name="Oval 17442">
            <a:extLst>
              <a:ext uri="{FF2B5EF4-FFF2-40B4-BE49-F238E27FC236}">
                <a16:creationId xmlns:a16="http://schemas.microsoft.com/office/drawing/2014/main" id="{8E606043-B070-7B7C-93B5-9998FD596140}"/>
              </a:ext>
            </a:extLst>
          </p:cNvPr>
          <p:cNvSpPr/>
          <p:nvPr/>
        </p:nvSpPr>
        <p:spPr>
          <a:xfrm>
            <a:off x="749808" y="5742432"/>
            <a:ext cx="301752" cy="301752"/>
          </a:xfrm>
          <a:prstGeom prst="ellipse">
            <a:avLst/>
          </a:prstGeom>
          <a:solidFill>
            <a:srgbClr val="39A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4" name="TextBox 17443">
            <a:extLst>
              <a:ext uri="{FF2B5EF4-FFF2-40B4-BE49-F238E27FC236}">
                <a16:creationId xmlns:a16="http://schemas.microsoft.com/office/drawing/2014/main" id="{3E3E59D6-BC40-623A-CEE9-0102408A3D1E}"/>
              </a:ext>
            </a:extLst>
          </p:cNvPr>
          <p:cNvSpPr txBox="1"/>
          <p:nvPr/>
        </p:nvSpPr>
        <p:spPr>
          <a:xfrm>
            <a:off x="749808" y="5788152"/>
            <a:ext cx="301752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7445" name="TextBox 17444">
            <a:extLst>
              <a:ext uri="{FF2B5EF4-FFF2-40B4-BE49-F238E27FC236}">
                <a16:creationId xmlns:a16="http://schemas.microsoft.com/office/drawing/2014/main" id="{5460F00A-29EB-79B9-F6F4-FFB26882A246}"/>
              </a:ext>
            </a:extLst>
          </p:cNvPr>
          <p:cNvSpPr txBox="1"/>
          <p:nvPr/>
        </p:nvSpPr>
        <p:spPr>
          <a:xfrm>
            <a:off x="1143000" y="5733288"/>
            <a:ext cx="2011680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102C57"/>
                </a:solidFill>
                <a:latin typeface="Calibri"/>
              </a:rPr>
              <a:t>OUTPUT</a:t>
            </a:r>
          </a:p>
        </p:txBody>
      </p:sp>
      <p:sp>
        <p:nvSpPr>
          <p:cNvPr id="17446" name="TextBox 17445">
            <a:extLst>
              <a:ext uri="{FF2B5EF4-FFF2-40B4-BE49-F238E27FC236}">
                <a16:creationId xmlns:a16="http://schemas.microsoft.com/office/drawing/2014/main" id="{FF812C2A-9C1A-0E64-C57F-7D2111B2789D}"/>
              </a:ext>
            </a:extLst>
          </p:cNvPr>
          <p:cNvSpPr txBox="1"/>
          <p:nvPr/>
        </p:nvSpPr>
        <p:spPr>
          <a:xfrm>
            <a:off x="1051560" y="5934456"/>
            <a:ext cx="20116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60 FPS Windy map + GMDSS + Evidence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4EAC9D-6B18-AFC5-46D4-815DF3DE83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7501" y="1004664"/>
            <a:ext cx="8396649" cy="54336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252246"/>
            <a:ext cx="261990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CodeCatalysts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449E50D-98E7-C2C5-E2EA-A7BE20E58693}"/>
              </a:ext>
            </a:extLst>
          </p:cNvPr>
          <p:cNvSpPr/>
          <p:nvPr/>
        </p:nvSpPr>
        <p:spPr>
          <a:xfrm>
            <a:off x="117646" y="1167883"/>
            <a:ext cx="5895945" cy="3704592"/>
          </a:xfrm>
          <a:prstGeom prst="roundRect">
            <a:avLst/>
          </a:prstGeom>
          <a:solidFill>
            <a:srgbClr val="EFF8F3"/>
          </a:solidFill>
          <a:ln w="12700"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sz="1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3BCCA8-FC53-0015-083A-5804FA0FE270}"/>
              </a:ext>
            </a:extLst>
          </p:cNvPr>
          <p:cNvSpPr txBox="1"/>
          <p:nvPr/>
        </p:nvSpPr>
        <p:spPr>
          <a:xfrm>
            <a:off x="459054" y="1357171"/>
            <a:ext cx="97398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defRPr sz="1400" b="1">
                <a:solidFill>
                  <a:srgbClr val="2E7D32"/>
                </a:solidFill>
                <a:latin typeface="Calibri"/>
              </a:defRPr>
            </a:pPr>
            <a:r>
              <a:t>FEASIBILITY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F63A91-5244-EE24-0FB2-C84D979C63C2}"/>
              </a:ext>
            </a:extLst>
          </p:cNvPr>
          <p:cNvSpPr txBox="1"/>
          <p:nvPr/>
        </p:nvSpPr>
        <p:spPr>
          <a:xfrm>
            <a:off x="343968" y="1699128"/>
            <a:ext cx="5417735" cy="3473515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lvl="0">
              <a:spcAft>
                <a:spcPts val="30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• Reliable Data Sources — </a:t>
            </a:r>
            <a:r>
              <a:rPr sz="880">
                <a:solidFill>
                  <a:srgbClr val="64748B"/>
                </a:solidFill>
                <a:latin typeface="Calibri"/>
              </a:rPr>
              <a:t>Open-Meteo, NOAA CoastWatch GHRSST L4, ISRO MOSDAC OCM-3, INCOIS Buoys, IMD.</a:t>
            </a:r>
          </a:p>
          <a:p>
            <a:pPr>
              <a:spcAft>
                <a:spcPts val="30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• Proven Technologies — </a:t>
            </a:r>
            <a:r>
              <a:rPr sz="880">
                <a:solidFill>
                  <a:srgbClr val="64748B"/>
                </a:solidFill>
                <a:latin typeface="Calibri"/>
              </a:rPr>
              <a:t>Python 3.13 FastAPI, Supabase PostGIS, Leaflet.js, React 19, PWA offline caching.</a:t>
            </a:r>
          </a:p>
          <a:p>
            <a:pPr>
              <a:spcAft>
                <a:spcPts val="30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• Modular Multi-Agent Design — </a:t>
            </a:r>
            <a:r>
              <a:rPr sz="880">
                <a:solidFill>
                  <a:srgbClr val="64748B"/>
                </a:solidFill>
                <a:latin typeface="Calibri"/>
              </a:rPr>
              <a:t>8 independent domain agents with plug-and-play connector abstractions.</a:t>
            </a:r>
          </a:p>
          <a:p>
            <a:pPr>
              <a:spcAft>
                <a:spcPts val="30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• Scalable Infrastructure — </a:t>
            </a:r>
            <a:r>
              <a:rPr sz="880">
                <a:solidFill>
                  <a:srgbClr val="64748B"/>
                </a:solidFill>
                <a:latin typeface="Calibri"/>
              </a:rPr>
              <a:t>Supabase cloud backend + embedded zero-dependency spatial index (&lt;5ms latency).</a:t>
            </a:r>
          </a:p>
          <a:p>
            <a:pPr>
              <a:spcAft>
                <a:spcPts val="30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• 100% Tested MVP — </a:t>
            </a:r>
            <a:r>
              <a:rPr sz="880">
                <a:solidFill>
                  <a:srgbClr val="64748B"/>
                </a:solidFill>
                <a:latin typeface="Calibri"/>
              </a:rPr>
              <a:t>Fully validated production codebase with 34/34 passing automated tests.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00" b="1">
                <a:solidFill>
                  <a:srgbClr val="0284C7"/>
                </a:solidFill>
                <a:latin typeface="Calibri"/>
              </a:rPr>
              <a:t>VIABILITY</a:t>
            </a:r>
          </a:p>
          <a:p>
            <a:pPr>
              <a:spcAft>
                <a:spcPts val="30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• Multi-Stakeholder Value — </a:t>
            </a:r>
            <a:r>
              <a:rPr sz="880">
                <a:solidFill>
                  <a:srgbClr val="64748B"/>
                </a:solidFill>
                <a:latin typeface="Calibri"/>
              </a:rPr>
              <a:t>Artisanal canoes, mechanized trawlers, merchant vessels, port masters &amp; Coast Guard.</a:t>
            </a:r>
          </a:p>
          <a:p>
            <a:pPr>
              <a:spcAft>
                <a:spcPts val="30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• Continuous Dynamic Feeds — </a:t>
            </a:r>
            <a:r>
              <a:rPr sz="880">
                <a:solidFill>
                  <a:srgbClr val="64748B"/>
                </a:solidFill>
                <a:latin typeface="Calibri"/>
              </a:rPr>
              <a:t>Satellite passes refreshed daily (GHRSST L4) and weather hourly (Open-Meteo).</a:t>
            </a:r>
          </a:p>
          <a:p>
            <a:pPr>
              <a:spcAft>
                <a:spcPts val="30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• Extensible Maritime Horizons — </a:t>
            </a:r>
            <a:r>
              <a:rPr sz="880">
                <a:solidFill>
                  <a:srgbClr val="64748B"/>
                </a:solidFill>
                <a:latin typeface="Calibri"/>
              </a:rPr>
              <a:t>Plug-in readiness for Blue Carbon monitoring, mariculture &amp; offshore wind.</a:t>
            </a:r>
          </a:p>
          <a:p>
            <a:pPr>
              <a:spcAft>
                <a:spcPts val="30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• Rapid National Scalability — </a:t>
            </a:r>
            <a:r>
              <a:rPr sz="880">
                <a:solidFill>
                  <a:srgbClr val="64748B"/>
                </a:solidFill>
                <a:latin typeface="Calibri"/>
              </a:rPr>
              <a:t>Pilot tested in Kochi, Mumbai, Chennai; ready for all 72 coastal districts.</a:t>
            </a:r>
          </a:p>
        </p:txBody>
      </p:sp>
      <p:sp>
        <p:nvSpPr>
          <p:cNvPr id="22" name="Rounded Rectangle 10">
            <a:extLst>
              <a:ext uri="{FF2B5EF4-FFF2-40B4-BE49-F238E27FC236}">
                <a16:creationId xmlns:a16="http://schemas.microsoft.com/office/drawing/2014/main" id="{E225D7C3-146A-E408-A5F1-C2F9B657C214}"/>
              </a:ext>
            </a:extLst>
          </p:cNvPr>
          <p:cNvSpPr/>
          <p:nvPr/>
        </p:nvSpPr>
        <p:spPr>
          <a:xfrm>
            <a:off x="6178411" y="1183690"/>
            <a:ext cx="5851525" cy="3704592"/>
          </a:xfrm>
          <a:prstGeom prst="roundRect">
            <a:avLst/>
          </a:prstGeom>
          <a:solidFill>
            <a:srgbClr val="FDF6E9"/>
          </a:solidFill>
          <a:ln w="12700"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lvl="0">
              <a:spcAft>
                <a:spcPts val="500"/>
              </a:spcAft>
            </a:pPr>
            <a:r>
              <a:rPr sz="1100" b="1">
                <a:solidFill>
                  <a:srgbClr val="D97706"/>
                </a:solidFill>
                <a:latin typeface="Calibri"/>
              </a:rPr>
              <a:t>CHALLENGES &amp; RISKS              </a:t>
            </a:r>
            <a:r>
              <a:rPr sz="1100" b="1">
                <a:solidFill>
                  <a:srgbClr val="102C57"/>
                </a:solidFill>
                <a:latin typeface="Calibri"/>
              </a:rPr>
              <a:t>HOW WE HANDLE THEM</a:t>
            </a:r>
          </a:p>
          <a:p>
            <a:pPr>
              <a:spcAft>
                <a:spcPts val="250"/>
              </a:spcAft>
            </a:pPr>
            <a:r>
              <a:rPr sz="860" b="1">
                <a:solidFill>
                  <a:srgbClr val="1E293B"/>
                </a:solidFill>
                <a:latin typeface="Calibri"/>
              </a:rPr>
              <a:t>1. Diverse Formats &amp; Sources: </a:t>
            </a:r>
            <a:r>
              <a:rPr sz="840">
                <a:solidFill>
                  <a:srgbClr val="0284C7"/>
                </a:solidFill>
                <a:latin typeface="Calibri"/>
              </a:rPr>
              <a:t>➔ Unified Pydantic v2 schemas &amp; ingestion pipeline</a:t>
            </a:r>
          </a:p>
          <a:p>
            <a:pPr>
              <a:spcAft>
                <a:spcPts val="250"/>
              </a:spcAft>
            </a:pPr>
            <a:r>
              <a:rPr sz="860" b="1">
                <a:solidFill>
                  <a:srgbClr val="1E293B"/>
                </a:solidFill>
                <a:latin typeface="Calibri"/>
              </a:rPr>
              <a:t>2. Data Freshness &amp; Lags: </a:t>
            </a:r>
            <a:r>
              <a:rPr sz="840">
                <a:solidFill>
                  <a:srgbClr val="0284C7"/>
                </a:solidFill>
                <a:latin typeface="Calibri"/>
              </a:rPr>
              <a:t>➔ Freshness penalty (+8 risk if telemetry age &gt; 12h)</a:t>
            </a:r>
          </a:p>
          <a:p>
            <a:pPr>
              <a:spcAft>
                <a:spcPts val="250"/>
              </a:spcAft>
            </a:pPr>
            <a:r>
              <a:rPr sz="860" b="1">
                <a:solidFill>
                  <a:srgbClr val="1E293B"/>
                </a:solidFill>
                <a:latin typeface="Calibri"/>
              </a:rPr>
              <a:t>3. Incomplete / Conflicted Data: </a:t>
            </a:r>
            <a:r>
              <a:rPr sz="840">
                <a:solidFill>
                  <a:srgbClr val="0284C7"/>
                </a:solidFill>
                <a:latin typeface="Calibri"/>
              </a:rPr>
              <a:t>➔ In-situ OMNI buoys cross-validate satellite grid</a:t>
            </a:r>
          </a:p>
          <a:p>
            <a:pPr>
              <a:spcAft>
                <a:spcPts val="250"/>
              </a:spcAft>
            </a:pPr>
            <a:r>
              <a:rPr sz="860" b="1">
                <a:solidFill>
                  <a:srgbClr val="1E293B"/>
                </a:solidFill>
                <a:latin typeface="Calibri"/>
              </a:rPr>
              <a:t>4. LLM Hallucinations: </a:t>
            </a:r>
            <a:r>
              <a:rPr sz="840">
                <a:solidFill>
                  <a:srgbClr val="0284C7"/>
                </a:solidFill>
                <a:latin typeface="Calibri"/>
              </a:rPr>
              <a:t>➔ Pure deterministic math engine (LLM for intent only)</a:t>
            </a:r>
          </a:p>
          <a:p>
            <a:pPr>
              <a:spcAft>
                <a:spcPts val="250"/>
              </a:spcAft>
            </a:pPr>
            <a:r>
              <a:rPr sz="860" b="1">
                <a:solidFill>
                  <a:srgbClr val="1E293B"/>
                </a:solidFill>
                <a:latin typeface="Calibri"/>
              </a:rPr>
              <a:t>5. Heavy Spatial Queries: </a:t>
            </a:r>
            <a:r>
              <a:rPr sz="840">
                <a:solidFill>
                  <a:srgbClr val="0284C7"/>
                </a:solidFill>
                <a:latin typeface="Calibri"/>
              </a:rPr>
              <a:t>➔ Embedded Ray-Casting &amp; Haversine index (&lt;5ms)</a:t>
            </a:r>
          </a:p>
          <a:p>
            <a:pPr>
              <a:spcAft>
                <a:spcPts val="250"/>
              </a:spcAft>
            </a:pPr>
            <a:r>
              <a:rPr sz="860" b="1">
                <a:solidFill>
                  <a:srgbClr val="1E293B"/>
                </a:solidFill>
                <a:latin typeface="Calibri"/>
              </a:rPr>
              <a:t>6. Safe Nautical Routing: </a:t>
            </a:r>
            <a:r>
              <a:rPr sz="840">
                <a:solidFill>
                  <a:srgbClr val="0284C7"/>
                </a:solidFill>
                <a:latin typeface="Calibri"/>
              </a:rPr>
              <a:t>➔ IMO Douglas/Beaufort rules &amp; Cape Comorin fairway</a:t>
            </a:r>
          </a:p>
          <a:p>
            <a:pPr>
              <a:spcAft>
                <a:spcPts val="250"/>
              </a:spcAft>
            </a:pPr>
            <a:r>
              <a:rPr sz="860" b="1">
                <a:solidFill>
                  <a:srgbClr val="1E293B"/>
                </a:solidFill>
                <a:latin typeface="Calibri"/>
              </a:rPr>
              <a:t>7. API Downtime / Offline: </a:t>
            </a:r>
            <a:r>
              <a:rPr sz="840">
                <a:solidFill>
                  <a:srgbClr val="0284C7"/>
                </a:solidFill>
                <a:latin typeface="Calibri"/>
              </a:rPr>
              <a:t>➔ PWA Offline Service Worker &amp; pre-seeded local cache</a:t>
            </a:r>
          </a:p>
          <a:p>
            <a:pPr>
              <a:spcAft>
                <a:spcPts val="250"/>
              </a:spcAft>
            </a:pPr>
            <a:r>
              <a:rPr sz="860" b="1">
                <a:solidFill>
                  <a:srgbClr val="1E293B"/>
                </a:solidFill>
                <a:latin typeface="Calibri"/>
              </a:rPr>
              <a:t>8. Privacy &amp; Distress Security: </a:t>
            </a:r>
            <a:r>
              <a:rPr sz="840">
                <a:solidFill>
                  <a:srgbClr val="0284C7"/>
                </a:solidFill>
                <a:latin typeface="Calibri"/>
              </a:rPr>
              <a:t>➔ Stateless tokens &amp; encrypted GMDSS SHA-256 dispatch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7ABE1D-064C-75C0-4DDA-66B8D800889D}"/>
              </a:ext>
            </a:extLst>
          </p:cNvPr>
          <p:cNvSpPr txBox="1"/>
          <p:nvPr/>
        </p:nvSpPr>
        <p:spPr>
          <a:xfrm>
            <a:off x="4228700" y="1753341"/>
            <a:ext cx="6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endParaRPr sz="1400" b="0" dirty="0">
              <a:solidFill>
                <a:srgbClr val="1C2C3A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0" y="6356353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86857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970" y="53442"/>
            <a:ext cx="252158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CodeCatalysts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266" y="1501"/>
            <a:ext cx="2249850" cy="1062337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DDB8F30B-4DE0-02C5-9432-AA07B9957468}"/>
              </a:ext>
            </a:extLst>
          </p:cNvPr>
          <p:cNvSpPr txBox="1"/>
          <p:nvPr/>
        </p:nvSpPr>
        <p:spPr>
          <a:xfrm>
            <a:off x="9104312" y="5193250"/>
            <a:ext cx="55464" cy="48628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endParaRPr lang="en-IN" sz="1400" b="1" dirty="0">
              <a:solidFill>
                <a:srgbClr val="308C37"/>
              </a:solidFill>
              <a:latin typeface="Aptos"/>
            </a:endParaRPr>
          </a:p>
          <a:p>
            <a:pPr algn="l"/>
            <a:endParaRPr sz="1400" b="1" dirty="0">
              <a:solidFill>
                <a:srgbClr val="308C37"/>
              </a:solidFill>
              <a:latin typeface="Apto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B3F623-79DE-1829-7548-442D7F805093}"/>
              </a:ext>
            </a:extLst>
          </p:cNvPr>
          <p:cNvSpPr txBox="1"/>
          <p:nvPr/>
        </p:nvSpPr>
        <p:spPr>
          <a:xfrm>
            <a:off x="11509375" y="6929437"/>
            <a:ext cx="317500" cy="21431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67F6B7B-A378-EFFC-A4BE-11751C344B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576" y="1034553"/>
            <a:ext cx="10972800" cy="536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395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3" y="142234"/>
            <a:ext cx="239432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CodeCatalysts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853CAE73-481B-1B24-A900-D4B0E165E89E}"/>
              </a:ext>
            </a:extLst>
          </p:cNvPr>
          <p:cNvSpPr/>
          <p:nvPr/>
        </p:nvSpPr>
        <p:spPr>
          <a:xfrm>
            <a:off x="393192" y="1356151"/>
            <a:ext cx="3657600" cy="4443984"/>
          </a:xfrm>
          <a:prstGeom prst="roundRect">
            <a:avLst/>
          </a:prstGeom>
          <a:solidFill>
            <a:srgbClr val="EEF5FC"/>
          </a:solidFill>
          <a:ln w="12700"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FFB11B-0387-F97A-C477-5D7068CFDAC8}"/>
              </a:ext>
            </a:extLst>
          </p:cNvPr>
          <p:cNvSpPr txBox="1"/>
          <p:nvPr/>
        </p:nvSpPr>
        <p:spPr>
          <a:xfrm>
            <a:off x="697993" y="1681352"/>
            <a:ext cx="29260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dirty="0">
                <a:solidFill>
                  <a:srgbClr val="416FB8"/>
                </a:solidFill>
                <a:latin typeface="Aptos"/>
              </a:rPr>
              <a:t>RESEARCH BASIS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FB64F8-DBDA-4888-4F47-E70089C78575}"/>
              </a:ext>
            </a:extLst>
          </p:cNvPr>
          <p:cNvSpPr txBox="1"/>
          <p:nvPr/>
        </p:nvSpPr>
        <p:spPr>
          <a:xfrm>
            <a:off x="852162" y="2227840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E293B"/>
                </a:solidFill>
                <a:latin typeface="Calibri"/>
              </a:rPr>
              <a:t>• Marine Earth Observation (SST Fronts &amp; Radiometry)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967B0D-9E0C-3477-05C2-9708F1072234}"/>
              </a:ext>
            </a:extLst>
          </p:cNvPr>
          <p:cNvSpPr txBox="1"/>
          <p:nvPr/>
        </p:nvSpPr>
        <p:spPr>
          <a:xfrm>
            <a:off x="841248" y="2816352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E293B"/>
                </a:solidFill>
                <a:latin typeface="Calibri"/>
              </a:rPr>
              <a:t>• Operational Oceanography (Douglas &amp; Beaufort Scales)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4C4C3B-C5EE-2040-4A82-6D516AB7250C}"/>
              </a:ext>
            </a:extLst>
          </p:cNvPr>
          <p:cNvSpPr txBox="1"/>
          <p:nvPr/>
        </p:nvSpPr>
        <p:spPr>
          <a:xfrm>
            <a:off x="841248" y="3346704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E293B"/>
                </a:solidFill>
                <a:latin typeface="Calibri"/>
              </a:rPr>
              <a:t>• Geospatial &amp; Nautical Routing (Geodesic Fairways)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D95B3E-C861-8D3F-4752-2DC675119EB7}"/>
              </a:ext>
            </a:extLst>
          </p:cNvPr>
          <p:cNvSpPr txBox="1"/>
          <p:nvPr/>
        </p:nvSpPr>
        <p:spPr>
          <a:xfrm>
            <a:off x="841248" y="3877056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E293B"/>
                </a:solidFill>
                <a:latin typeface="Calibri"/>
              </a:rPr>
              <a:t>• Multi-Agent Systems (Collaborative Delegation)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C3BA9D-BC2F-52A7-7B7B-8DAA833B710B}"/>
              </a:ext>
            </a:extLst>
          </p:cNvPr>
          <p:cNvSpPr txBox="1"/>
          <p:nvPr/>
        </p:nvSpPr>
        <p:spPr>
          <a:xfrm>
            <a:off x="852162" y="4327282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E293B"/>
                </a:solidFill>
                <a:latin typeface="Calibri"/>
              </a:rPr>
              <a:t>• Conversational Marine UX (12+ Indic Voice Dialects)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E9E36E-6A98-D966-A1D0-846747816769}"/>
              </a:ext>
            </a:extLst>
          </p:cNvPr>
          <p:cNvSpPr txBox="1"/>
          <p:nvPr/>
        </p:nvSpPr>
        <p:spPr>
          <a:xfrm>
            <a:off x="841248" y="4937760"/>
            <a:ext cx="2926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E293B"/>
                </a:solidFill>
                <a:latin typeface="Calibri"/>
              </a:rPr>
              <a:t>• Evidence &amp; Data Provenance (Audit Latency Ledgers)</a:t>
            </a:r>
          </a:p>
        </p:txBody>
      </p:sp>
      <p:sp>
        <p:nvSpPr>
          <p:cNvPr id="24" name="Rounded Rectangle 12">
            <a:extLst>
              <a:ext uri="{FF2B5EF4-FFF2-40B4-BE49-F238E27FC236}">
                <a16:creationId xmlns:a16="http://schemas.microsoft.com/office/drawing/2014/main" id="{A1916B2C-74C3-9061-8487-0D74627B4F14}"/>
              </a:ext>
            </a:extLst>
          </p:cNvPr>
          <p:cNvSpPr/>
          <p:nvPr/>
        </p:nvSpPr>
        <p:spPr>
          <a:xfrm>
            <a:off x="4249157" y="1316848"/>
            <a:ext cx="3401568" cy="4443984"/>
          </a:xfrm>
          <a:prstGeom prst="roundRect">
            <a:avLst/>
          </a:prstGeom>
          <a:solidFill>
            <a:srgbClr val="EBF8F5"/>
          </a:solidFill>
          <a:ln w="12700"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06A542-7930-9EAC-81E1-0C5F62A30775}"/>
              </a:ext>
            </a:extLst>
          </p:cNvPr>
          <p:cNvSpPr txBox="1"/>
          <p:nvPr/>
        </p:nvSpPr>
        <p:spPr>
          <a:xfrm>
            <a:off x="4416551" y="1677662"/>
            <a:ext cx="28346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dirty="0">
                <a:solidFill>
                  <a:srgbClr val="25A69A"/>
                </a:solidFill>
                <a:latin typeface="Aptos"/>
              </a:rPr>
              <a:t>DATA SOURCE GROUPS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951084-A5EA-17EA-057E-720E0058D5A8}"/>
              </a:ext>
            </a:extLst>
          </p:cNvPr>
          <p:cNvSpPr txBox="1"/>
          <p:nvPr/>
        </p:nvSpPr>
        <p:spPr>
          <a:xfrm>
            <a:off x="4604005" y="2161996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02C57"/>
                </a:solidFill>
                <a:latin typeface="Calibri"/>
              </a:rPr>
              <a:t>Satellite Observation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F7AF8C-AD7F-4610-D01B-7BAB21F93483}"/>
              </a:ext>
            </a:extLst>
          </p:cNvPr>
          <p:cNvSpPr txBox="1"/>
          <p:nvPr/>
        </p:nvSpPr>
        <p:spPr>
          <a:xfrm>
            <a:off x="4617720" y="244144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64748B"/>
                </a:solidFill>
                <a:latin typeface="Calibri"/>
              </a:rPr>
              <a:t>NOAA GHRSST L4 OSTIA, ISRO Oceansat-3 OCM, Copernicus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EC58B7-CBEC-1AE9-C088-DFDCE83184DD}"/>
              </a:ext>
            </a:extLst>
          </p:cNvPr>
          <p:cNvSpPr txBox="1"/>
          <p:nvPr/>
        </p:nvSpPr>
        <p:spPr>
          <a:xfrm>
            <a:off x="4617720" y="2834640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02C57"/>
                </a:solidFill>
                <a:latin typeface="Calibri"/>
              </a:rPr>
              <a:t>Physical Oceanography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7665BF-6454-2354-C933-EDD7165FD9D1}"/>
              </a:ext>
            </a:extLst>
          </p:cNvPr>
          <p:cNvSpPr txBox="1"/>
          <p:nvPr/>
        </p:nvSpPr>
        <p:spPr>
          <a:xfrm>
            <a:off x="4617720" y="303580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64748B"/>
                </a:solidFill>
                <a:latin typeface="Calibri"/>
              </a:rPr>
              <a:t>SST, Chlorophyll-a, Wave Swell, Ocean Currents &amp; Tides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8CD85A-4CC1-5529-F0BA-C8F78C6362B6}"/>
              </a:ext>
            </a:extLst>
          </p:cNvPr>
          <p:cNvSpPr txBox="1"/>
          <p:nvPr/>
        </p:nvSpPr>
        <p:spPr>
          <a:xfrm>
            <a:off x="4617720" y="3409556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02C57"/>
                </a:solidFill>
                <a:latin typeface="Calibri"/>
              </a:rPr>
              <a:t>Meteorological Feeds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5A8B33F-6D6C-086B-B5B7-C3BE72BF2D05}"/>
              </a:ext>
            </a:extLst>
          </p:cNvPr>
          <p:cNvSpPr txBox="1"/>
          <p:nvPr/>
        </p:nvSpPr>
        <p:spPr>
          <a:xfrm>
            <a:off x="4617720" y="363016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64748B"/>
                </a:solidFill>
                <a:latin typeface="Calibri"/>
              </a:rPr>
              <a:t>Open-Meteo GFS/ECMWF, Wind Vectors, Gusts &amp; Squalls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F58576-79EC-8D3E-9E92-2A3D7EA0AE22}"/>
              </a:ext>
            </a:extLst>
          </p:cNvPr>
          <p:cNvSpPr txBox="1"/>
          <p:nvPr/>
        </p:nvSpPr>
        <p:spPr>
          <a:xfrm>
            <a:off x="4617720" y="4023360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02C57"/>
                </a:solidFill>
                <a:latin typeface="Calibri"/>
              </a:rPr>
              <a:t>Safety &amp; Warning Advisories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31EB45-61EE-F1F1-FD35-BAF618267348}"/>
              </a:ext>
            </a:extLst>
          </p:cNvPr>
          <p:cNvSpPr txBox="1"/>
          <p:nvPr/>
        </p:nvSpPr>
        <p:spPr>
          <a:xfrm>
            <a:off x="4617720" y="422452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64748B"/>
                </a:solidFill>
                <a:latin typeface="Calibri"/>
              </a:rPr>
              <a:t>IMD Marine Warnings, Port Signals 1–11, Damini Lightning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B7050DF-337E-8D5C-45CC-72A21820D846}"/>
              </a:ext>
            </a:extLst>
          </p:cNvPr>
          <p:cNvSpPr txBox="1"/>
          <p:nvPr/>
        </p:nvSpPr>
        <p:spPr>
          <a:xfrm>
            <a:off x="4617720" y="4576382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02C57"/>
                </a:solidFill>
                <a:latin typeface="Calibri"/>
              </a:rPr>
              <a:t>Maritime GIS Boundaries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E3D788-3B5F-8F6D-BFE3-C8FA5C79FEC3}"/>
              </a:ext>
            </a:extLst>
          </p:cNvPr>
          <p:cNvSpPr txBox="1"/>
          <p:nvPr/>
        </p:nvSpPr>
        <p:spPr>
          <a:xfrm>
            <a:off x="4617720" y="481888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64748B"/>
                </a:solidFill>
                <a:latin typeface="Calibri"/>
              </a:rPr>
              <a:t>EEZ 200 NM, IMBL Borders, Marine Protected Areas (MPAs)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13D6B9C-4135-1667-DE85-E2845FC0CAEA}"/>
              </a:ext>
            </a:extLst>
          </p:cNvPr>
          <p:cNvSpPr txBox="1"/>
          <p:nvPr/>
        </p:nvSpPr>
        <p:spPr>
          <a:xfrm>
            <a:off x="4617720" y="5212080"/>
            <a:ext cx="2743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02C57"/>
                </a:solidFill>
                <a:latin typeface="Calibri"/>
              </a:rPr>
              <a:t>Historical &amp; In-Situ Baselines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83CED3F-3F8B-9A32-CE8C-7D2F70641533}"/>
              </a:ext>
            </a:extLst>
          </p:cNvPr>
          <p:cNvSpPr txBox="1"/>
          <p:nvPr/>
        </p:nvSpPr>
        <p:spPr>
          <a:xfrm>
            <a:off x="4617720" y="5413248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64748B"/>
                </a:solidFill>
                <a:latin typeface="Calibri"/>
              </a:rPr>
              <a:t>INCOIS Deep-Sea OMNI Buoys, Coastal Tide Gauges &amp; CMFRI</a:t>
            </a:r>
          </a:p>
        </p:txBody>
      </p:sp>
      <p:sp>
        <p:nvSpPr>
          <p:cNvPr id="52" name="Rounded Rectangle 26">
            <a:extLst>
              <a:ext uri="{FF2B5EF4-FFF2-40B4-BE49-F238E27FC236}">
                <a16:creationId xmlns:a16="http://schemas.microsoft.com/office/drawing/2014/main" id="{0EB2354B-EC81-843F-88CD-4895B5E7230B}"/>
              </a:ext>
            </a:extLst>
          </p:cNvPr>
          <p:cNvSpPr/>
          <p:nvPr/>
        </p:nvSpPr>
        <p:spPr>
          <a:xfrm>
            <a:off x="7904988" y="1256314"/>
            <a:ext cx="3675887" cy="4443984"/>
          </a:xfrm>
          <a:prstGeom prst="roundRect">
            <a:avLst/>
          </a:prstGeom>
          <a:solidFill>
            <a:srgbClr val="F3F0F9"/>
          </a:solidFill>
          <a:ln w="12700">
            <a:solidFill>
              <a:srgbClr val="D6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EBD7A2D-4E07-5017-E017-E40D07712742}"/>
              </a:ext>
            </a:extLst>
          </p:cNvPr>
          <p:cNvSpPr txBox="1"/>
          <p:nvPr/>
        </p:nvSpPr>
        <p:spPr>
          <a:xfrm>
            <a:off x="8101583" y="1677662"/>
            <a:ext cx="31089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dirty="0">
                <a:solidFill>
                  <a:srgbClr val="6A53A8"/>
                </a:solidFill>
                <a:latin typeface="Aptos"/>
              </a:rPr>
              <a:t>REFERENCE AREAS</a:t>
            </a:r>
          </a:p>
        </p:txBody>
      </p:sp>
      <p:sp>
        <p:nvSpPr>
          <p:cNvPr id="17408" name="TextBox 17407">
            <a:extLst>
              <a:ext uri="{FF2B5EF4-FFF2-40B4-BE49-F238E27FC236}">
                <a16:creationId xmlns:a16="http://schemas.microsoft.com/office/drawing/2014/main" id="{68386D07-25FF-ED7F-F2F1-8A09F71555A5}"/>
              </a:ext>
            </a:extLst>
          </p:cNvPr>
          <p:cNvSpPr txBox="1"/>
          <p:nvPr/>
        </p:nvSpPr>
        <p:spPr>
          <a:xfrm>
            <a:off x="8155412" y="2140662"/>
            <a:ext cx="2886213" cy="365760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marL="0" lvl="0" indent="0">
              <a:spcAft>
                <a:spcPts val="6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INCOIS (MoES) — PFZ Advisories &amp; Ocean State Forecasts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ISRO MOSDAC — Oceansat-3 &amp; INSAT-3D Satellite Data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IMD (MoES) — Cyclone Warnings &amp; Port Danger Signals 1–11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Indian Coast Guard — MRCC Search &amp; Rescue Protocols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NOAA CoastWatch — Global GHRSST Level-4 Telemetry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Survey of India &amp; NIOT — Deep-Sea Buoys &amp; Tide Gauges</a:t>
            </a:r>
          </a:p>
        </p:txBody>
      </p:sp>
      <p:sp>
        <p:nvSpPr>
          <p:cNvPr id="17416" name="TextBox 17415">
            <a:extLst>
              <a:ext uri="{FF2B5EF4-FFF2-40B4-BE49-F238E27FC236}">
                <a16:creationId xmlns:a16="http://schemas.microsoft.com/office/drawing/2014/main" id="{6335EB71-694A-0306-D7AC-5680F8C899D8}"/>
              </a:ext>
            </a:extLst>
          </p:cNvPr>
          <p:cNvSpPr txBox="1"/>
          <p:nvPr/>
        </p:nvSpPr>
        <p:spPr>
          <a:xfrm>
            <a:off x="1085849" y="6113287"/>
            <a:ext cx="10058400" cy="141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i="1">
                <a:solidFill>
                  <a:srgbClr val="64748B"/>
                </a:solidFill>
                <a:latin typeface="Calibri"/>
              </a:rPr>
              <a:t>Production release integrates verified live APIs from Open-Meteo, NOAA CoastWatch, ISRO MOSDAC, and INCOIS.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9959</TotalTime>
  <Words>668</Words>
  <Application>Microsoft Office PowerPoint</Application>
  <PresentationFormat>Widescreen</PresentationFormat>
  <Paragraphs>134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Aptos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 ORCA — Agentic AI for Ocean Intelligence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Akash Kumar</cp:lastModifiedBy>
  <cp:revision>157</cp:revision>
  <dcterms:created xsi:type="dcterms:W3CDTF">2013-12-12T18:46:50Z</dcterms:created>
  <dcterms:modified xsi:type="dcterms:W3CDTF">2026-09-07T20:54:21Z</dcterms:modified>
  <cp:category/>
</cp:coreProperties>
</file>